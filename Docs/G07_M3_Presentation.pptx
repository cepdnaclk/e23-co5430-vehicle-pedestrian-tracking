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0332720" cy="4480560"/>
          </a:xfrm>
          <a:prstGeom prst="rect">
            <a:avLst/>
          </a:prstGeom>
          <a:solidFill>
            <a:srgbClr val="1428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1732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E0EF"/>
                </a:solidFill>
                <a:latin typeface="Calibri"/>
              </a:rPr>
              <a:t>CO5430 — Image Processing &amp; Computer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Vehicle &amp; Pedestrian Tracking
in Video Sequences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3337560"/>
            <a:ext cx="42976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456432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  <a:latin typeface="Calibri"/>
              </a:rPr>
              <a:t>M3: Prototype &amp; Preliminary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0507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Calibri"/>
              </a:rPr>
              <a:t>M.R.A. Rahman (E/23/282)  ·  A. Piraveen (E/23/273)  ·  M.M.M.A. Nular (E/23/249)  ·  V. Thanush (E/23/392)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407408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E0EF"/>
                </a:solidFill>
                <a:latin typeface="Calibri"/>
              </a:rPr>
              <a:t>Group G07   | 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Slide 1: Working Method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  <a:latin typeface="Calibri"/>
              </a:rPr>
              <a:t>Two-stage pipeline: YOLOv8n detection  +  SORT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Calibri"/>
              </a:rPr>
              <a:t>CO5430 – Group G07  |  University of Peradeniya  | 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1920240" cy="1371600"/>
          </a:xfrm>
          <a:prstGeom prst="rect">
            <a:avLst/>
          </a:prstGeom>
          <a:solidFill>
            <a:srgbClr val="1428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IMG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190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Input
Frames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1762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E0EF"/>
                </a:solidFill>
                <a:latin typeface="Calibri"/>
              </a:rPr>
              <a:t>MOT16 JPEGs
1920×1080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18288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1448" y="1371600"/>
            <a:ext cx="1920240" cy="1371600"/>
          </a:xfrm>
          <a:prstGeom prst="rect">
            <a:avLst/>
          </a:prstGeom>
          <a:solidFill>
            <a:srgbClr val="1428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1448" y="1417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DET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17190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YOLOv8n
Detector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1448" y="21762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E0EF"/>
                </a:solidFill>
                <a:latin typeface="Calibri"/>
              </a:rPr>
              <a:t>Fine-tuned on
4,254 train frames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8288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2856" y="1371600"/>
            <a:ext cx="1920240" cy="1371600"/>
          </a:xfrm>
          <a:prstGeom prst="rect">
            <a:avLst/>
          </a:prstGeom>
          <a:solidFill>
            <a:srgbClr val="1428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1417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17190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Bounding
Boxes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21762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E0EF"/>
                </a:solidFill>
                <a:latin typeface="Calibri"/>
              </a:rPr>
              <a:t>[x1,y1,x2,y2]
conf ≥ 0.30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18288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84264" y="1371600"/>
            <a:ext cx="1920240" cy="1371600"/>
          </a:xfrm>
          <a:prstGeom prst="rect">
            <a:avLst/>
          </a:prstGeom>
          <a:solidFill>
            <a:srgbClr val="1428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4264" y="1417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TRK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4264" y="17190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SORT
Tracker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4264" y="21762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E0EF"/>
                </a:solidFill>
                <a:latin typeface="Calibri"/>
              </a:rPr>
              <a:t>Kalman Filter
+ Hungarian Algo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1936" y="18288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05672" y="1371600"/>
            <a:ext cx="1920240" cy="1371600"/>
          </a:xfrm>
          <a:prstGeom prst="rect">
            <a:avLst/>
          </a:prstGeom>
          <a:solidFill>
            <a:srgbClr val="1428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05672" y="1417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CC71"/>
                </a:solidFill>
                <a:latin typeface="Calibri"/>
              </a:rPr>
              <a:t>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5672" y="17190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Tracked
Video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5672" y="217627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E0EF"/>
                </a:solidFill>
                <a:latin typeface="Calibri"/>
              </a:rPr>
              <a:t>Boxes + IDs
per frame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971800"/>
            <a:ext cx="5394960" cy="3246120"/>
          </a:xfrm>
          <a:prstGeom prst="rect">
            <a:avLst/>
          </a:prstGeom>
          <a:solidFill>
            <a:srgbClr val="1428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063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Detection: YOLOv8n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74720"/>
            <a:ext cx="5212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Architecture: CSP-DarkNet + PAN-FPN + Decoupled Head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Pretrained on COCO (80 classes), fine-tuned on MOT16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Input: 640×640 px (auto-resized from 1920×1080)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Output: [x1,y1,x2,y2, confidence, class_id]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Confidence threshold: 0.30  |  NMS IoU: 0.45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Classes trained: 0=pedestrian, 1=car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Training: 50 epochs, batch=16, Google Colab T4 GPU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Estimated training time: ~30 min on T4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2971800"/>
            <a:ext cx="5925312" cy="3246120"/>
          </a:xfrm>
          <a:prstGeom prst="rect">
            <a:avLst/>
          </a:prstGeom>
          <a:solidFill>
            <a:srgbClr val="1428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30632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Tracking: SORT Algorithm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474720"/>
            <a:ext cx="56692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State vector: [cx, cy, aspect_ratio, height, vx, vy, va, vh]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Kalman Filter: predicts next position using constant-velocity model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Hungarian Algorithm: globally optimal detection-to-track matching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IoU cost matrix: match only if overlap &gt;= 0.30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max_age=3: track survives 3 frames without detection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min_hits=3: track only shown after 3 confirmed matches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New detection with no match → new track ID assigned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Self-contained implementation (no external sort package)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Slide 2: Preliminary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  <a:latin typeface="Calibri"/>
              </a:rPr>
              <a:t>YOLOv8n trained on MOT16  |  mAP evaluated on validation split (1,062 frames)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Calibri"/>
              </a:rPr>
              <a:t>CO5430 – Group G07  |  University of Peradeniya  | 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2194560" cy="1280160"/>
          </a:xfrm>
          <a:prstGeom prst="rect">
            <a:avLst/>
          </a:prstGeom>
          <a:solidFill>
            <a:srgbClr val="1428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20116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B4D8"/>
                </a:solidFill>
                <a:latin typeface="Calibri"/>
              </a:rPr>
              <a:t>TBD*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8372"/>
            <a:ext cx="201168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Calibri"/>
              </a:rPr>
              <a:t>mAP@50
(detection)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4368" y="1325880"/>
            <a:ext cx="2194560" cy="1280160"/>
          </a:xfrm>
          <a:prstGeom prst="rect">
            <a:avLst/>
          </a:prstGeom>
          <a:solidFill>
            <a:srgbClr val="1428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399032"/>
            <a:ext cx="20116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0E0EF"/>
                </a:solidFill>
                <a:latin typeface="Calibri"/>
              </a:rPr>
              <a:t>TBD*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068372"/>
            <a:ext cx="201168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Calibri"/>
              </a:rPr>
              <a:t>mAP@50-95
(strict)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31536" y="1325880"/>
            <a:ext cx="2194560" cy="1280160"/>
          </a:xfrm>
          <a:prstGeom prst="rect">
            <a:avLst/>
          </a:prstGeom>
          <a:solidFill>
            <a:srgbClr val="1428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2976" y="1399032"/>
            <a:ext cx="20116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CC71"/>
                </a:solidFill>
                <a:latin typeface="Calibri"/>
              </a:rPr>
              <a:t>TBD*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2068372"/>
            <a:ext cx="201168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Calibri"/>
              </a:rPr>
              <a:t>Precision
(pedestrian)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18704" y="1325880"/>
            <a:ext cx="2194560" cy="1280160"/>
          </a:xfrm>
          <a:prstGeom prst="rect">
            <a:avLst/>
          </a:prstGeom>
          <a:solidFill>
            <a:srgbClr val="1428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1399032"/>
            <a:ext cx="20116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CC71"/>
                </a:solidFill>
                <a:latin typeface="Calibri"/>
              </a:rPr>
              <a:t>TBD*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2068372"/>
            <a:ext cx="201168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Calibri"/>
              </a:rPr>
              <a:t>Recall
(pedestrian)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05872" y="1325880"/>
            <a:ext cx="2194560" cy="1280160"/>
          </a:xfrm>
          <a:prstGeom prst="rect">
            <a:avLst/>
          </a:prstGeom>
          <a:solidFill>
            <a:srgbClr val="1428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97312" y="1399032"/>
            <a:ext cx="20116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C00"/>
                </a:solidFill>
                <a:latin typeface="Calibri"/>
              </a:rPr>
              <a:t>TBD*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97312" y="2068372"/>
            <a:ext cx="2011680" cy="4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Calibri"/>
              </a:rPr>
              <a:t>Training
Epochs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6974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8C00"/>
                </a:solidFill>
                <a:latin typeface="Calibri"/>
              </a:rPr>
              <a:t>* Values marked TBD will be updated after training completes on Google Colab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063240"/>
            <a:ext cx="5394960" cy="3154680"/>
          </a:xfrm>
          <a:prstGeom prst="rect">
            <a:avLst/>
          </a:prstGeom>
          <a:solidFill>
            <a:srgbClr val="1428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What These Metrics Mean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66160"/>
            <a:ext cx="52120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mAP@50: mean Average Precision at IoU=0.50 (standard detection benchmark)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mAP@50-95: averaged over IoU thresholds 0.50→0.95 (stricter — harder to score high)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Precision: of all boxes our model predicted, what fraction were correct?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Recall: of all real pedestrians in the image, what fraction did we find?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High precision = few false alarms  |  High recall = few misses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• We aim for: mAP@50 &gt; 0.65 for acceptable detection quality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063240"/>
            <a:ext cx="5925312" cy="3154680"/>
          </a:xfrm>
          <a:prstGeom prst="rect">
            <a:avLst/>
          </a:prstGeom>
          <a:solidFill>
            <a:srgbClr val="14283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31546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Training Setup &amp; Expected Range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70448" y="3557016"/>
            <a:ext cx="5943600" cy="265176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35844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Model: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5844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YOLOv8n (nano)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70448" y="3822192"/>
            <a:ext cx="5943600" cy="265176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38496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Pretrained 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84962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COCO 2017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70448" y="4087368"/>
            <a:ext cx="5943600" cy="265176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41148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Fine-tuned 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1148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MOT16 train (4,254 frames)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70448" y="4352544"/>
            <a:ext cx="5943600" cy="265176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37997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Validation set: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37997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MOT16 val (1,062 frames)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70448" y="4617720"/>
            <a:ext cx="5943600" cy="265176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464515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Epochs: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645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50  (early stop: patience=20)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70448" y="4882896"/>
            <a:ext cx="5943600" cy="265176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491032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Batch size: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910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0448" y="5148072"/>
            <a:ext cx="5943600" cy="265176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51755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Image size: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17550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640 × 640 px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70448" y="5413248"/>
            <a:ext cx="5943600" cy="265176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0760" y="544068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Optimizer: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54406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AdamW (auto)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70448" y="5678424"/>
            <a:ext cx="5943600" cy="265176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570585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Training HW: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570585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Google Colab T4 GPU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70448" y="5943600"/>
            <a:ext cx="5943600" cy="265176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597103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Calibri"/>
              </a:rPr>
              <a:t>Expected mAP@50: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597103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0.65 – 0.80  (typical range)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Slide 3: Qualitative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  <a:latin typeface="Calibri"/>
              </a:rPr>
              <a:t>Ground-truth bounding boxes on MOT16 validation frames — visualised by verify_labels.py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Calibri"/>
              </a:rPr>
              <a:t>CO5430 – Group G07  |  University of Peradeniya  |  August 2026</a:t>
            </a:r>
          </a:p>
        </p:txBody>
      </p:sp>
      <p:pic>
        <p:nvPicPr>
          <p:cNvPr id="8" name="Picture 7" descr="MOT16-02_000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98448"/>
            <a:ext cx="5669280" cy="2423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" y="372160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E0EF"/>
                </a:solidFill>
                <a:latin typeface="Calibri"/>
              </a:rPr>
              <a:t>MOT16-02 (Venice plaza)  — dense crowd</a:t>
            </a:r>
          </a:p>
        </p:txBody>
      </p:sp>
      <p:pic>
        <p:nvPicPr>
          <p:cNvPr id="10" name="Picture 9" descr="MOT16-09_00037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98448"/>
            <a:ext cx="5669280" cy="2423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60" y="372160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E0EF"/>
                </a:solidFill>
                <a:latin typeface="Calibri"/>
              </a:rPr>
              <a:t>MOT16-09 (Rundle Mall) — mall walkway</a:t>
            </a:r>
          </a:p>
        </p:txBody>
      </p:sp>
      <p:pic>
        <p:nvPicPr>
          <p:cNvPr id="12" name="Picture 11" descr="MOT16-11_00052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822191"/>
            <a:ext cx="5669280" cy="2423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8600" y="6245351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E0EF"/>
                </a:solidFill>
                <a:latin typeface="Calibri"/>
              </a:rPr>
              <a:t>MOT16-11 (Dubai Mall) — indoor scene</a:t>
            </a:r>
          </a:p>
        </p:txBody>
      </p:sp>
      <p:pic>
        <p:nvPicPr>
          <p:cNvPr id="14" name="Picture 13" descr="MOT16-13_00026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3822191"/>
            <a:ext cx="5669280" cy="2423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80760" y="6245351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E0EF"/>
                </a:solidFill>
                <a:latin typeface="Calibri"/>
              </a:rPr>
              <a:t>MOT16-13 (UK street) — outdoor + vehicles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53872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Green boxes = ground-truth pedestrian annotations  |  Used to train YOLOv8n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Slide 4: Failure Cases &amp;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  <a:latin typeface="Calibri"/>
              </a:rPr>
              <a:t>Known limitations observed during data analysis and expected during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Calibri"/>
              </a:rPr>
              <a:t>CO5430 – Group G07  |  University of Peradeniya  | 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5394960" cy="2331720"/>
          </a:xfrm>
          <a:prstGeom prst="rect">
            <a:avLst/>
          </a:prstGeom>
          <a:solidFill>
            <a:srgbClr val="1428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  <a:latin typeface="Calibri"/>
              </a:rPr>
              <a:t>1. Zero Car Annotations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73936"/>
            <a:ext cx="521208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MOT16 is predominantly a pedestrian dataset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Car class (MOT16 id=3) exists but very few instances in our 7 sequences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After applying visibility &gt;= 0.3 filter: 0 car labels survived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Impact: trained model detects pedestrians only — car tracking not functional at M3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Fix for M4: add supplementary data (e.g., UA-DETRAC vehicle dataset)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298448"/>
            <a:ext cx="5394960" cy="2331720"/>
          </a:xfrm>
          <a:prstGeom prst="rect">
            <a:avLst/>
          </a:prstGeom>
          <a:solidFill>
            <a:srgbClr val="1428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898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  <a:latin typeface="Calibri"/>
              </a:rPr>
              <a:t>2. Occlusion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73936"/>
            <a:ext cx="521208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Pedestrians overlapping each other cause merged bounding boxes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SORT: when a person is occluded &gt; max_age frames, new ID assigned on reappearance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High-density scenes (MOT16-02 Venice, MOT16-11 mall) especially problematic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Impact: ID switches inflate the ID switch metric in MOTA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Fix for M4: DeepSORT adds appearance re-ID to match same person after occlusion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5394960" cy="2331720"/>
          </a:xfrm>
          <a:prstGeom prst="rect">
            <a:avLst/>
          </a:prstGeom>
          <a:solidFill>
            <a:srgbClr val="14283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84047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  <a:latin typeface="Calibri"/>
              </a:rPr>
              <a:t>3. Small Distant Objects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224527"/>
            <a:ext cx="521208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Pedestrians far from camera appear as ~10x10 px bounding boxes at 640px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YOLOv8n (nano) has reduced capacity — may miss small targets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Applied visibility filter &gt;= 0.3, but distant pedestrians still included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Impact: false negatives on small targets, reducing recall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Fix: use YOLOv8s/m (larger model), or higher input resolution (1280px)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749039"/>
            <a:ext cx="5394960" cy="2331720"/>
          </a:xfrm>
          <a:prstGeom prst="rect">
            <a:avLst/>
          </a:prstGeom>
          <a:solidFill>
            <a:srgbClr val="14283E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84047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AAAA"/>
                </a:solidFill>
                <a:latin typeface="Calibri"/>
              </a:rPr>
              <a:t>4. Temporal Split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224527"/>
            <a:ext cx="521208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Last 20% of frames = validation → scene content shifts (time-of-day, crowd size)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This is correct practice (avoids leakage) but may lower reported metrics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val metrics reflect performance on footage 'later in time' than training data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• Expected: slight metric drop vs. random split — accepted trade-off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Slide 5: Planned Improvements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  <a:latin typeface="Calibri"/>
              </a:rPr>
              <a:t>M4 (Aug 15 – Aug 25) → DeepSORT / ByteTrack  |  M5 (Aug 18) →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Calibri"/>
              </a:rPr>
              <a:t>CO5430 – Group G07  |  University of Peradeniya  | 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1737360" cy="1097280"/>
          </a:xfrm>
          <a:prstGeom prst="rect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807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  <a:latin typeface="Calibri"/>
              </a:rPr>
              <a:t>Aug 14–19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YOLOv8 + SORT
Baseline Video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16459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12848" y="1325880"/>
            <a:ext cx="1737360" cy="1097280"/>
          </a:xfrm>
          <a:prstGeom prst="rect">
            <a:avLst/>
          </a:prstGeom>
          <a:solidFill>
            <a:srgbClr val="2238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2848" y="13807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4D8"/>
                </a:solidFill>
                <a:latin typeface="Calibri"/>
              </a:rPr>
              <a:t>M4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16459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  <a:latin typeface="Calibri"/>
              </a:rPr>
              <a:t>Aug 15–25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Calibri"/>
              </a:rPr>
              <a:t>DeepSORT /
ByteTrack upgrade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16459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1376" y="1325880"/>
            <a:ext cx="1737360" cy="1097280"/>
          </a:xfrm>
          <a:prstGeom prst="rect">
            <a:avLst/>
          </a:prstGeom>
          <a:solidFill>
            <a:srgbClr val="2238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51376" y="13807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4D8"/>
                </a:solidFill>
                <a:latin typeface="Calibri"/>
              </a:rPr>
              <a:t>M5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16459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  <a:latin typeface="Calibri"/>
              </a:rPr>
              <a:t>Aug 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Calibri"/>
              </a:rPr>
              <a:t>MOTA / IDF1
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6168" y="16459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9904" y="1325880"/>
            <a:ext cx="1737360" cy="1097280"/>
          </a:xfrm>
          <a:prstGeom prst="rect">
            <a:avLst/>
          </a:prstGeom>
          <a:solidFill>
            <a:srgbClr val="223852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9904" y="13807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CCCCC"/>
                </a:solidFill>
                <a:latin typeface="Calibri"/>
              </a:rPr>
              <a:t>M6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904" y="16459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  <a:latin typeface="Calibri"/>
              </a:rPr>
              <a:t>Aug 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Calibri"/>
              </a:rPr>
              <a:t>Experiment
Freeze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54696" y="16459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28432" y="1325880"/>
            <a:ext cx="1737360" cy="1097280"/>
          </a:xfrm>
          <a:prstGeom prst="rect">
            <a:avLst/>
          </a:prstGeom>
          <a:solidFill>
            <a:srgbClr val="223852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2" y="13807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CCCCC"/>
                </a:solidFill>
                <a:latin typeface="Calibri"/>
              </a:rPr>
              <a:t>M7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2" y="16459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  <a:latin typeface="Calibri"/>
              </a:rPr>
              <a:t>Sep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2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Calibri"/>
              </a:rPr>
              <a:t>Draft Report
&amp; Figures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3224" y="16459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60" y="1325880"/>
            <a:ext cx="1737360" cy="1097280"/>
          </a:xfrm>
          <a:prstGeom prst="rect">
            <a:avLst/>
          </a:prstGeom>
          <a:solidFill>
            <a:srgbClr val="223852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13807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CCCCC"/>
                </a:solidFill>
                <a:latin typeface="Calibri"/>
              </a:rPr>
              <a:t>M8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164592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  <a:latin typeface="Calibri"/>
              </a:rPr>
              <a:t>Sep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Calibri"/>
              </a:rPr>
              <a:t>Final Submit
&amp; Demo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578608"/>
            <a:ext cx="5577840" cy="3657600"/>
          </a:xfrm>
          <a:prstGeom prst="rect">
            <a:avLst/>
          </a:prstGeom>
          <a:solidFill>
            <a:srgbClr val="1428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26700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M4: Replace SORT with DeepSORT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3090672"/>
            <a:ext cx="53492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Add deep appearance feature extractor (Re-ID CNN)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Cosine distance metric replaces pure IoU for matching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Tracks re-identified after occlusion using visual similarity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Expected: fewer ID switches, better MOTA &amp; IDF1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Alternative: ByteTrack — use low-confidence detections in second matching pass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Will run same sequences and compare SORT vs DeepSORT metrics in 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578608"/>
            <a:ext cx="5833872" cy="3657600"/>
          </a:xfrm>
          <a:prstGeom prst="rect">
            <a:avLst/>
          </a:prstGeom>
          <a:solidFill>
            <a:srgbClr val="14283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267004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M5: Quantitative Evaluation Plan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3090672"/>
            <a:ext cx="55778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Tool: py-motmetrics library against MOT16 ground truth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Primary metrics: MOTA, IDF1, MOTP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MOTA = 1 - (FP + FN + ID_switches) / num_gt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IDF1 = proportion of correctly identified detections over avg detections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Will produce table: SORT vs DeepSORT vs ByteTrack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Stretch goal: separate pedestrian vs car tracking accuracy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Calibri"/>
              </a:rPr>
              <a:t>▸ Report will include qualitative failure frame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Calibri"/>
              </a:rPr>
              <a:t>Slide 6: Repository Status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0E0EF"/>
                </a:solidFill>
                <a:latin typeface="Calibri"/>
              </a:rPr>
              <a:t>GitHub: cepdnaclk/e23-co5430-vehicle-pedestrian-tracking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Calibri"/>
              </a:rPr>
              <a:t>CO5430 – Group G07  |  University of Peradeniya  |  August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6858000" cy="4937760"/>
          </a:xfrm>
          <a:prstGeom prst="rect">
            <a:avLst/>
          </a:prstGeom>
          <a:solidFill>
            <a:srgbClr val="1428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Git Commit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83080"/>
            <a:ext cx="6748272" cy="621792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783080"/>
            <a:ext cx="64008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C71"/>
                </a:solidFill>
                <a:latin typeface="Calibri"/>
              </a:rPr>
              <a:t>ae1e6f4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828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M3: YOLOv8+SORT tracking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  <a:latin typeface="Calibri"/>
              </a:rPr>
              <a:t>Aug 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459736"/>
            <a:ext cx="6748272" cy="621792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459736"/>
            <a:ext cx="64008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054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95d54b5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5054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Updated progress report (M2 slides)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054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  <a:latin typeface="Calibri"/>
              </a:rPr>
              <a:t>Jul 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136392"/>
            <a:ext cx="6748272" cy="621792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36392"/>
            <a:ext cx="64008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1821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b29aabc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1821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Initial preprocessing scripts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8211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  <a:latin typeface="Calibri"/>
              </a:rPr>
              <a:t>Jul 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13048"/>
            <a:ext cx="6748272" cy="621792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813048"/>
            <a:ext cx="64008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587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0fc9527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38587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M2: MOT16 → YOLO preprocessing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85876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  <a:latin typeface="Calibri"/>
              </a:rPr>
              <a:t>Jul 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489704"/>
            <a:ext cx="6748272" cy="621792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489704"/>
            <a:ext cx="64008" cy="6217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5354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CCCC"/>
                </a:solidFill>
                <a:latin typeface="Calibri"/>
              </a:rPr>
              <a:t>0d79b5e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5354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Add project roadmap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5354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  <a:latin typeface="Calibri"/>
              </a:rPr>
              <a:t>Jul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166360"/>
            <a:ext cx="6748272" cy="621792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166360"/>
            <a:ext cx="64008" cy="6217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2120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CCCC"/>
                </a:solidFill>
                <a:latin typeface="Calibri"/>
              </a:rPr>
              <a:t>9845b39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2120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First commit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21208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CCCCC"/>
                </a:solidFill>
                <a:latin typeface="Calibri"/>
              </a:rPr>
              <a:t>Jul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1298448"/>
            <a:ext cx="4480560" cy="2331720"/>
          </a:xfrm>
          <a:prstGeom prst="rect">
            <a:avLst/>
          </a:prstGeom>
          <a:solidFill>
            <a:srgbClr val="14283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3800" y="1389888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M3 Deliverables Status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182880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C71"/>
                </a:solidFill>
                <a:latin typeface="Calibri"/>
              </a:rPr>
              <a:t>[OK] sort_tracker.py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18288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SORT (Kalman+Hungarian)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21305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C71"/>
                </a:solidFill>
                <a:latin typeface="Calibri"/>
              </a:rPr>
              <a:t>[OK] run_tracker.py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21305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Full tracking pipeline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243230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C71"/>
                </a:solidFill>
                <a:latin typeface="Calibri"/>
              </a:rPr>
              <a:t>[OK] dataset_colab.yaml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243230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Colab training config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273405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C71"/>
                </a:solidFill>
                <a:latin typeface="Calibri"/>
              </a:rPr>
              <a:t>[OK] Colab cells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273405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8-cell training notebook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303580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8C00"/>
                </a:solidFill>
                <a:latin typeface="Calibri"/>
              </a:rPr>
              <a:t>[WIP] best.pt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30358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Trained model weights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3337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8C00"/>
                </a:solidFill>
                <a:latin typeface="Calibri"/>
              </a:rPr>
              <a:t>[WIP] MOT16-02_tracked.mp4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33375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Calibri"/>
              </a:rPr>
              <a:t>Output tracking video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06640" y="3749039"/>
            <a:ext cx="4480560" cy="2487168"/>
          </a:xfrm>
          <a:prstGeom prst="rect">
            <a:avLst/>
          </a:prstGeom>
          <a:solidFill>
            <a:srgbClr val="1428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43800" y="3840480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Key Files in Repo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3800" y="425196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📄 data/preprocessing/preprocess.py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📄 data/preprocessing/verify_labels.py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📄 src/tracking/sort_tracker.py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📄 src/tracking/run_tracker.py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📄 data/yolo_dataset/dataset_colab.yaml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  <a:latin typeface="Calibri"/>
              </a:rPr>
              <a:t>📄 ROADMAP.md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