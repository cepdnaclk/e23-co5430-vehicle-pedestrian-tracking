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8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E8ED-0F24-A97D-088A-45B3901B9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1BB34-5625-BE23-B58C-AD727BC20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038E5-0F5A-138B-2F54-406394FF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6C067-CAEA-5CF6-9F92-DFB86E0A9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12BAF-285B-1BA3-FF53-96054EC0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82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BD56-8517-D898-D66C-A477B783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AF20E-2A89-1A78-FAED-C1C7A2C23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C36BA-C4DC-B401-C505-33CFA50C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14007-71B4-1990-60FE-49A3923D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C1385-5311-CEAB-B392-A485EF8C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6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B9BB4-99E5-E273-FCF4-F2820D6F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83C-C1E5-12D1-EB12-E7900CF53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528D8-1633-B44A-DC5E-6D8B7057D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C7D5A-9838-DA60-0824-82035AEB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E35B-D8A7-F0BD-D00B-F5B8EDFA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38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3386-AF8E-FEC7-70EA-D1E9A0976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5404B-2295-6987-A308-49EAF7422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29CE3-E2E0-C421-2CE7-BCBCB6B26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0F9F5-E4B3-B53E-A959-D69E5033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F1CA6-F771-73DB-1D1D-7FFA10BCB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72594-5D22-CB86-3289-623F223D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0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549D-D8CC-3F38-9117-B524EB8EF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BBBF0-2A36-AE18-E065-FD3855D81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20652-7CC4-8B70-EFEA-825C4ECF9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04957-E21A-838B-EA70-754CFD742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06436D-EB3D-27F5-676B-4E257BC93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0F370E-79DD-DBB3-AE80-FAA702DC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AFE992-2F50-E083-A3ED-37173DB1A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B1D84-F269-550D-99AC-2C7844C23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660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A3C3-333D-BB35-6D7F-EB1CCD971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1E354-3CB2-1FD0-4D68-FF18379D8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9BE51-A96F-9087-BBB7-DF673E5A1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B7B98-9377-BC9A-F1F6-7914BE59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4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86476-CB24-8D6A-AED0-60A7DC0CF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B2A1BE-D123-023F-6521-1AA98E95B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1A47F-0BFE-04D6-A25E-E6F98A68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17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B141-FDA7-4697-0DF5-87E5FBA0D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D9ACB-83A2-D06D-2F43-4A7C8E607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B483B-6979-D3A9-CAE1-4405B5EB7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B8FB1-08AF-13F9-58D5-190D73CA4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66B60-7D5F-68F0-613D-08BC42779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45ED4-063A-FAF6-5780-29AA04FC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1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11233-CAD5-6C1D-51A8-9FADC81FB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5BF92F-4541-5F6D-D8D7-109328F47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40CCA-DC99-0E10-E8D2-2E282F42E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6372D-87FB-015C-8439-3550C3B4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9F9E0-3908-4BA1-1A3F-6B19A4AB9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F57A5-547C-B20F-7C4C-9803ECBC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3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7D60-5076-F737-8379-E2467530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35E84-7F1E-EFF7-5641-A966C7311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52A42-4ADB-0A6A-6244-120D6C406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2214F-3338-8DB8-EA76-5B3EAF17F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ADA0E-5193-015D-FF4B-EF62EA2E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93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803A3-4B9B-BA73-9BB7-3FD000FD5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91E89-1C81-4770-B2BD-F46171CEE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292E0-5FA6-B0A6-FC2E-947B26F50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18EFD-4FD5-51B9-35A7-407D3816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6171A-1574-8743-0C0E-97DCEE3C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2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28EAD4-C7B4-0C17-F96C-0CDA03643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FBDE8-B3EB-56CD-77C0-D04796A1A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2E078-6631-C4D8-1304-46EF154C3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1D4B7-E9D4-49E0-839F-9AE5F24B626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66FCC-CC87-6B97-419E-1C03BAD6C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0393B-65A9-E769-B19E-0122CAEC0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383C9-21B2-4B5F-A28C-5B1632C72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8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215D0B-A90C-6273-97F1-DC98F100EF3B}"/>
              </a:ext>
            </a:extLst>
          </p:cNvPr>
          <p:cNvSpPr txBox="1"/>
          <p:nvPr/>
        </p:nvSpPr>
        <p:spPr>
          <a:xfrm>
            <a:off x="1188720" y="1417320"/>
            <a:ext cx="97840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B4D8"/>
                </a:solidFill>
              </a:rPr>
              <a:t>CO5430 Image Processing &amp; Computer Vision</a:t>
            </a:r>
          </a:p>
          <a:p>
            <a:pPr algn="ctr"/>
            <a:endParaRPr sz="1300" b="0" dirty="0">
              <a:solidFill>
                <a:srgbClr val="90E0E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9E539-B426-C492-BD5B-0F4907471EE7}"/>
              </a:ext>
            </a:extLst>
          </p:cNvPr>
          <p:cNvSpPr txBox="1"/>
          <p:nvPr/>
        </p:nvSpPr>
        <p:spPr>
          <a:xfrm>
            <a:off x="1097280" y="1828800"/>
            <a:ext cx="99669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dirty="0">
                <a:latin typeface="Calibri"/>
              </a:rPr>
              <a:t>Vehicle &amp; Pedestrian Tracking
in Video Sequences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FA51E0-0DAF-8C94-ABE6-28FFAC780676}"/>
              </a:ext>
            </a:extLst>
          </p:cNvPr>
          <p:cNvSpPr/>
          <p:nvPr/>
        </p:nvSpPr>
        <p:spPr>
          <a:xfrm>
            <a:off x="3931920" y="3337560"/>
            <a:ext cx="4297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CAAB94-2934-0E4F-F274-57ADAEF68FEE}"/>
              </a:ext>
            </a:extLst>
          </p:cNvPr>
          <p:cNvSpPr txBox="1"/>
          <p:nvPr/>
        </p:nvSpPr>
        <p:spPr>
          <a:xfrm>
            <a:off x="1188720" y="345643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00B4D8"/>
                </a:solidFill>
                <a:latin typeface="Calibri"/>
              </a:rPr>
              <a:t>M3: Prototype &amp; Preliminary 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BDEBAA-9CD1-5C67-74FA-43FFF4077B04}"/>
              </a:ext>
            </a:extLst>
          </p:cNvPr>
          <p:cNvSpPr txBox="1"/>
          <p:nvPr/>
        </p:nvSpPr>
        <p:spPr>
          <a:xfrm>
            <a:off x="1188720" y="4005072"/>
            <a:ext cx="9784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latin typeface="Calibri"/>
              </a:rPr>
              <a:t>M.R.A. Rahman (E/23/282)    A. Piraveen (E/23/273)    M.M.M.A. </a:t>
            </a:r>
            <a:r>
              <a:rPr sz="1200" b="0" dirty="0" err="1">
                <a:latin typeface="Calibri"/>
              </a:rPr>
              <a:t>Nular</a:t>
            </a:r>
            <a:r>
              <a:rPr sz="1200" b="0" dirty="0">
                <a:latin typeface="Calibri"/>
              </a:rPr>
              <a:t> (E/23/249)   V. Thanush (E/23/392)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AAEBD4-77F1-FC8C-4F69-BD2BCA2CF177}"/>
              </a:ext>
            </a:extLst>
          </p:cNvPr>
          <p:cNvSpPr txBox="1"/>
          <p:nvPr/>
        </p:nvSpPr>
        <p:spPr>
          <a:xfrm>
            <a:off x="1188720" y="4407408"/>
            <a:ext cx="9784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B4D8"/>
                </a:solidFill>
              </a:rPr>
              <a:t>G07</a:t>
            </a:r>
          </a:p>
        </p:txBody>
      </p:sp>
    </p:spTree>
    <p:extLst>
      <p:ext uri="{BB962C8B-B14F-4D97-AF65-F5344CB8AC3E}">
        <p14:creationId xmlns:p14="http://schemas.microsoft.com/office/powerpoint/2010/main" val="1178329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A0F398-4AA5-3AA1-846C-8CE916FD6D17}"/>
              </a:ext>
            </a:extLst>
          </p:cNvPr>
          <p:cNvSpPr txBox="1"/>
          <p:nvPr/>
        </p:nvSpPr>
        <p:spPr>
          <a:xfrm>
            <a:off x="111458" y="154639"/>
            <a:ext cx="60943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00B4D8"/>
                </a:solidFill>
                <a:latin typeface="Calibri"/>
              </a:rPr>
              <a:t>Working Method &amp; Implementation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6C19C7-3FF9-D9BB-2BF0-8FB691522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7401"/>
            <a:ext cx="12192000" cy="10919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E6FD06D-A37C-2885-60FD-987C269C25D3}"/>
              </a:ext>
            </a:extLst>
          </p:cNvPr>
          <p:cNvSpPr/>
          <p:nvPr/>
        </p:nvSpPr>
        <p:spPr>
          <a:xfrm>
            <a:off x="264695" y="76938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640E35A-2108-7133-EE9C-116F8044759B}"/>
              </a:ext>
            </a:extLst>
          </p:cNvPr>
          <p:cNvGrpSpPr/>
          <p:nvPr/>
        </p:nvGrpSpPr>
        <p:grpSpPr>
          <a:xfrm>
            <a:off x="320040" y="2971800"/>
            <a:ext cx="11548872" cy="3246120"/>
            <a:chOff x="320040" y="2971800"/>
            <a:chExt cx="11548872" cy="324612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40C52B-0195-8C7E-6E29-E8415342F475}"/>
                </a:ext>
              </a:extLst>
            </p:cNvPr>
            <p:cNvSpPr/>
            <p:nvPr/>
          </p:nvSpPr>
          <p:spPr>
            <a:xfrm>
              <a:off x="320040" y="2971800"/>
              <a:ext cx="5394960" cy="3246120"/>
            </a:xfrm>
            <a:prstGeom prst="rect">
              <a:avLst/>
            </a:prstGeom>
            <a:solidFill>
              <a:srgbClr val="14283E"/>
            </a:solidFill>
            <a:ln w="12700">
              <a:solidFill>
                <a:srgbClr val="00B4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60BE019-170B-FCD0-C57C-97FBBF4B10C5}"/>
                </a:ext>
              </a:extLst>
            </p:cNvPr>
            <p:cNvSpPr txBox="1"/>
            <p:nvPr/>
          </p:nvSpPr>
          <p:spPr>
            <a:xfrm>
              <a:off x="457200" y="3063240"/>
              <a:ext cx="51206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00B4D8"/>
                  </a:solidFill>
                  <a:latin typeface="Calibri"/>
                </a:rPr>
                <a:t>Detection: YOLOv8n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01F41C1-FFE3-92C0-58C4-1ED09878E824}"/>
                </a:ext>
              </a:extLst>
            </p:cNvPr>
            <p:cNvSpPr txBox="1"/>
            <p:nvPr/>
          </p:nvSpPr>
          <p:spPr>
            <a:xfrm>
              <a:off x="457200" y="3474720"/>
              <a:ext cx="5212080" cy="2606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Architecture: CSP-DarkNet + PAN-FPN + Decoupled Head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Pretrained on COCO (80 classes), fine-tuned on MOT16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Input: 640×640 px (auto-resized from 1920×1080)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Output: [x1,y1,x2,y2, confidence, class_id]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Confidence threshold: 0.30  |  NMS IoU: 0.45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Classes trained: 0=pedestrian, 1=car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Training: 50 epochs, batch=16, Google Colab T4 GPU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Estimated training time: ~30 min on T4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EB88196-58AC-EC4B-84D6-2E1C84231819}"/>
                </a:ext>
              </a:extLst>
            </p:cNvPr>
            <p:cNvSpPr/>
            <p:nvPr/>
          </p:nvSpPr>
          <p:spPr>
            <a:xfrm>
              <a:off x="5943600" y="2971800"/>
              <a:ext cx="5925312" cy="3246120"/>
            </a:xfrm>
            <a:prstGeom prst="rect">
              <a:avLst/>
            </a:prstGeom>
            <a:solidFill>
              <a:srgbClr val="14283E"/>
            </a:solidFill>
            <a:ln w="12700">
              <a:solidFill>
                <a:srgbClr val="00B4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6FC5CBF-9F21-3A82-DAC4-85310B2DFF1B}"/>
                </a:ext>
              </a:extLst>
            </p:cNvPr>
            <p:cNvSpPr txBox="1"/>
            <p:nvPr/>
          </p:nvSpPr>
          <p:spPr>
            <a:xfrm>
              <a:off x="6080760" y="3063240"/>
              <a:ext cx="56692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00B4D8"/>
                  </a:solidFill>
                  <a:latin typeface="Calibri"/>
                </a:rPr>
                <a:t>Tracking: SORT Algorithm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984538D-341C-B4E4-993A-C1AC90EB77B8}"/>
                </a:ext>
              </a:extLst>
            </p:cNvPr>
            <p:cNvSpPr txBox="1"/>
            <p:nvPr/>
          </p:nvSpPr>
          <p:spPr>
            <a:xfrm>
              <a:off x="6080760" y="3474720"/>
              <a:ext cx="5669280" cy="2606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State vector: [cx, cy, aspect_ratio, height, vx, vy, va, vh]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Kalman Filter: predicts next position using constant-velocity model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Hungarian Algorithm: globally optimal detection-to-track matching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IoU cost matrix: match only if overlap &gt;= 0.30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max_age=3: track survives 3 frames without detection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min_hits=3: track only shown after 3 confirmed matches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New detection with no match → new track ID assigned</a:t>
              </a:r>
            </a:p>
            <a:p>
              <a:pPr>
                <a:spcBef>
                  <a:spcPts val="400"/>
                </a:spcBef>
              </a:pPr>
              <a:r>
                <a:rPr sz="1200">
                  <a:solidFill>
                    <a:srgbClr val="FFFFFF"/>
                  </a:solidFill>
                  <a:latin typeface="Calibri"/>
                </a:rPr>
                <a:t>• Self-contained implementation (no external sort package)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5077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A2FF74-5BC1-486A-0220-5F9D44E98D29}"/>
              </a:ext>
            </a:extLst>
          </p:cNvPr>
          <p:cNvSpPr txBox="1"/>
          <p:nvPr/>
        </p:nvSpPr>
        <p:spPr>
          <a:xfrm>
            <a:off x="457200" y="137160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00B4D8"/>
                </a:solidFill>
                <a:latin typeface="Calibri"/>
              </a:rPr>
              <a:t>Preliminary Evaluation Metrics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371A97-63CB-60DF-B31D-4E401553D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631634"/>
              </p:ext>
            </p:extLst>
          </p:nvPr>
        </p:nvGraphicFramePr>
        <p:xfrm>
          <a:off x="457198" y="1171074"/>
          <a:ext cx="10258928" cy="4638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732">
                  <a:extLst>
                    <a:ext uri="{9D8B030D-6E8A-4147-A177-3AD203B41FA5}">
                      <a16:colId xmlns:a16="http://schemas.microsoft.com/office/drawing/2014/main" val="4147268002"/>
                    </a:ext>
                  </a:extLst>
                </a:gridCol>
                <a:gridCol w="2564732">
                  <a:extLst>
                    <a:ext uri="{9D8B030D-6E8A-4147-A177-3AD203B41FA5}">
                      <a16:colId xmlns:a16="http://schemas.microsoft.com/office/drawing/2014/main" val="305032578"/>
                    </a:ext>
                  </a:extLst>
                </a:gridCol>
                <a:gridCol w="2564732">
                  <a:extLst>
                    <a:ext uri="{9D8B030D-6E8A-4147-A177-3AD203B41FA5}">
                      <a16:colId xmlns:a16="http://schemas.microsoft.com/office/drawing/2014/main" val="4007754958"/>
                    </a:ext>
                  </a:extLst>
                </a:gridCol>
                <a:gridCol w="2564732">
                  <a:extLst>
                    <a:ext uri="{9D8B030D-6E8A-4147-A177-3AD203B41FA5}">
                      <a16:colId xmlns:a16="http://schemas.microsoft.com/office/drawing/2014/main" val="3268179378"/>
                    </a:ext>
                  </a:extLst>
                </a:gridCol>
              </a:tblGrid>
              <a:tr h="690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Metric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0" dirty="0"/>
                        <a:t>Current Status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Expected Target Range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it Means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308902"/>
                  </a:ext>
                </a:extLst>
              </a:tr>
              <a:tr h="98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mAP@50 (Detection)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B4D8"/>
                          </a:solidFill>
                          <a:latin typeface="+mn-lt"/>
                        </a:rPr>
                        <a:t>0.892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0.65 - 0.80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 Average Precision at </a:t>
                      </a:r>
                      <a:r>
                        <a:rPr lang="en-US" dirty="0" err="1"/>
                        <a:t>IoU</a:t>
                      </a:r>
                      <a:r>
                        <a:rPr lang="en-US" dirty="0"/>
                        <a:t>=0.50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19497"/>
                  </a:ext>
                </a:extLst>
              </a:tr>
              <a:tr h="98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mAP@50-95 (Strict)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B4D8"/>
                          </a:solidFill>
                          <a:latin typeface="+mn-lt"/>
                        </a:rPr>
                        <a:t>0.579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 &gt; 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Averaged over </a:t>
                      </a:r>
                      <a:r>
                        <a:rPr lang="en-US" dirty="0" err="1"/>
                        <a:t>IoU</a:t>
                      </a:r>
                      <a:r>
                        <a:rPr lang="en-US" dirty="0"/>
                        <a:t> thresholds (harder to score high)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330604"/>
                  </a:ext>
                </a:extLst>
              </a:tr>
              <a:tr h="98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Precision (Pedestrian)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B4D8"/>
                          </a:solidFill>
                          <a:latin typeface="+mn-lt"/>
                        </a:rPr>
                        <a:t>0.938</a:t>
                      </a:r>
                    </a:p>
                    <a:p>
                      <a:pPr>
                        <a:buNone/>
                      </a:pPr>
                      <a:endParaRPr lang="en-US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 &gt; 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Fraction of predicted boxes that are 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441177"/>
                  </a:ext>
                </a:extLst>
              </a:tr>
              <a:tr h="98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Recall (Pedestrian)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B4D8"/>
                          </a:solidFill>
                          <a:latin typeface="+mn-lt"/>
                        </a:rPr>
                        <a:t>0.809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 &gt; 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Fraction of real pedestrians successfully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23308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9E32B66-5411-2EF1-5781-559378DBEA62}"/>
              </a:ext>
            </a:extLst>
          </p:cNvPr>
          <p:cNvSpPr/>
          <p:nvPr/>
        </p:nvSpPr>
        <p:spPr>
          <a:xfrm>
            <a:off x="264695" y="76938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12F10A-8CFE-4175-1DAA-0FD4948150CF}"/>
              </a:ext>
            </a:extLst>
          </p:cNvPr>
          <p:cNvSpPr txBox="1"/>
          <p:nvPr/>
        </p:nvSpPr>
        <p:spPr>
          <a:xfrm>
            <a:off x="535021" y="6050604"/>
            <a:ext cx="100778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Note: Validated on 1,062 frames (</a:t>
            </a:r>
            <a:r>
              <a:rPr lang="en-US" sz="1200" i="1" dirty="0" err="1"/>
              <a:t>val</a:t>
            </a:r>
            <a:r>
              <a:rPr lang="en-US" sz="1200" i="1" dirty="0"/>
              <a:t> split), 16,081 pedestrian instances. Results saved to /content/runs/detect/</a:t>
            </a:r>
            <a:r>
              <a:rPr lang="en-US" sz="1200" i="1" dirty="0" err="1"/>
              <a:t>val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2773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OT16-02_000156.jpg">
            <a:extLst>
              <a:ext uri="{FF2B5EF4-FFF2-40B4-BE49-F238E27FC236}">
                <a16:creationId xmlns:a16="http://schemas.microsoft.com/office/drawing/2014/main" id="{7CA9DB2D-2719-0941-BEDE-05F5A08D7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73860"/>
            <a:ext cx="5669280" cy="2423160"/>
          </a:xfrm>
          <a:prstGeom prst="rect">
            <a:avLst/>
          </a:prstGeom>
        </p:spPr>
      </p:pic>
      <p:pic>
        <p:nvPicPr>
          <p:cNvPr id="5" name="Picture 4" descr="MOT16-09_000376.jpg">
            <a:extLst>
              <a:ext uri="{FF2B5EF4-FFF2-40B4-BE49-F238E27FC236}">
                <a16:creationId xmlns:a16="http://schemas.microsoft.com/office/drawing/2014/main" id="{B64539FA-21D5-E633-B3C0-70B8A00C4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73860"/>
            <a:ext cx="5669280" cy="2423160"/>
          </a:xfrm>
          <a:prstGeom prst="rect">
            <a:avLst/>
          </a:prstGeom>
        </p:spPr>
      </p:pic>
      <p:pic>
        <p:nvPicPr>
          <p:cNvPr id="7" name="Picture 6" descr="MOT16-11_000529.jpg">
            <a:extLst>
              <a:ext uri="{FF2B5EF4-FFF2-40B4-BE49-F238E27FC236}">
                <a16:creationId xmlns:a16="http://schemas.microsoft.com/office/drawing/2014/main" id="{230AA74A-AD7F-E8D6-F9F2-5AF1F6DAC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918443"/>
            <a:ext cx="5669280" cy="2423160"/>
          </a:xfrm>
          <a:prstGeom prst="rect">
            <a:avLst/>
          </a:prstGeom>
        </p:spPr>
      </p:pic>
      <p:pic>
        <p:nvPicPr>
          <p:cNvPr id="9" name="Picture 8" descr="MOT16-13_000266.jpg">
            <a:extLst>
              <a:ext uri="{FF2B5EF4-FFF2-40B4-BE49-F238E27FC236}">
                <a16:creationId xmlns:a16="http://schemas.microsoft.com/office/drawing/2014/main" id="{4779072F-A307-B763-BF2B-80058C8FB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3950527"/>
            <a:ext cx="5669280" cy="24231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4FFF12-97BB-4B4C-93C9-31F219C23926}"/>
              </a:ext>
            </a:extLst>
          </p:cNvPr>
          <p:cNvSpPr txBox="1"/>
          <p:nvPr/>
        </p:nvSpPr>
        <p:spPr>
          <a:xfrm>
            <a:off x="457200" y="137160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00B4D8"/>
                </a:solidFill>
                <a:latin typeface="Calibri"/>
              </a:rPr>
              <a:t>Qualitative 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FFDFAC-127C-0895-D852-9560C8977876}"/>
              </a:ext>
            </a:extLst>
          </p:cNvPr>
          <p:cNvSpPr/>
          <p:nvPr/>
        </p:nvSpPr>
        <p:spPr>
          <a:xfrm>
            <a:off x="296780" y="865634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2A8B33-6CAB-1771-0099-B7261B2B8980}"/>
              </a:ext>
            </a:extLst>
          </p:cNvPr>
          <p:cNvSpPr txBox="1"/>
          <p:nvPr/>
        </p:nvSpPr>
        <p:spPr>
          <a:xfrm>
            <a:off x="274320" y="3538727"/>
            <a:ext cx="55008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00B4D8"/>
                </a:solidFill>
                <a:latin typeface="Calibri"/>
              </a:rPr>
              <a:t>MOT16-02 (Venice plaza) – Dense crowd</a:t>
            </a:r>
            <a:endParaRPr sz="1100" b="1" dirty="0">
              <a:solidFill>
                <a:srgbClr val="00B4D8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2F43A4-4417-8D3C-8ED8-64C962D2D6F3}"/>
              </a:ext>
            </a:extLst>
          </p:cNvPr>
          <p:cNvSpPr txBox="1"/>
          <p:nvPr/>
        </p:nvSpPr>
        <p:spPr>
          <a:xfrm>
            <a:off x="6096000" y="3538727"/>
            <a:ext cx="55008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00B4D8"/>
                </a:solidFill>
                <a:latin typeface="Calibri"/>
              </a:rPr>
              <a:t>MOT16-09 (Rundle Mall) – Mall Walkaway</a:t>
            </a:r>
            <a:endParaRPr sz="1100" b="1" dirty="0">
              <a:solidFill>
                <a:srgbClr val="00B4D8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B9E7CE-6449-3C44-1956-5D514396E730}"/>
              </a:ext>
            </a:extLst>
          </p:cNvPr>
          <p:cNvSpPr txBox="1"/>
          <p:nvPr/>
        </p:nvSpPr>
        <p:spPr>
          <a:xfrm>
            <a:off x="228600" y="6373687"/>
            <a:ext cx="55008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00B4D8"/>
                </a:solidFill>
                <a:latin typeface="Calibri"/>
              </a:rPr>
              <a:t>MOT16-11 (Dubai Mall) – Indoor scene</a:t>
            </a:r>
            <a:endParaRPr sz="1100" b="1" dirty="0">
              <a:solidFill>
                <a:srgbClr val="00B4D8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992A76-C87A-6B24-FC50-4592E397B383}"/>
              </a:ext>
            </a:extLst>
          </p:cNvPr>
          <p:cNvSpPr txBox="1"/>
          <p:nvPr/>
        </p:nvSpPr>
        <p:spPr>
          <a:xfrm>
            <a:off x="5897880" y="6377030"/>
            <a:ext cx="55008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00B4D8"/>
                </a:solidFill>
                <a:latin typeface="Calibri"/>
              </a:rPr>
              <a:t>MOT16-13 (UK street) – Outdoor+ vehicle</a:t>
            </a:r>
            <a:endParaRPr sz="1100" b="1" dirty="0">
              <a:solidFill>
                <a:srgbClr val="00B4D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7799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1E827F-3A31-45BE-5AEC-370E1A1F86AC}"/>
              </a:ext>
            </a:extLst>
          </p:cNvPr>
          <p:cNvSpPr txBox="1"/>
          <p:nvPr/>
        </p:nvSpPr>
        <p:spPr>
          <a:xfrm>
            <a:off x="457200" y="137160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00B4D8"/>
                </a:solidFill>
                <a:latin typeface="Calibri"/>
              </a:rPr>
              <a:t>Failure Cases &amp; Observations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E24D9-FEAA-436F-7FE7-9B77739C8D16}"/>
              </a:ext>
            </a:extLst>
          </p:cNvPr>
          <p:cNvSpPr/>
          <p:nvPr/>
        </p:nvSpPr>
        <p:spPr>
          <a:xfrm>
            <a:off x="457200" y="83355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B9AA3C-FBE4-F7CF-2E77-C292611BF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472616"/>
              </p:ext>
            </p:extLst>
          </p:nvPr>
        </p:nvGraphicFramePr>
        <p:xfrm>
          <a:off x="549442" y="1012518"/>
          <a:ext cx="11062636" cy="535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1318">
                  <a:extLst>
                    <a:ext uri="{9D8B030D-6E8A-4147-A177-3AD203B41FA5}">
                      <a16:colId xmlns:a16="http://schemas.microsoft.com/office/drawing/2014/main" val="357070363"/>
                    </a:ext>
                  </a:extLst>
                </a:gridCol>
                <a:gridCol w="5531318">
                  <a:extLst>
                    <a:ext uri="{9D8B030D-6E8A-4147-A177-3AD203B41FA5}">
                      <a16:colId xmlns:a16="http://schemas.microsoft.com/office/drawing/2014/main" val="1399205183"/>
                    </a:ext>
                  </a:extLst>
                </a:gridCol>
              </a:tblGrid>
              <a:tr h="9763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Issue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Impact/ Fix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180165"/>
                  </a:ext>
                </a:extLst>
              </a:tr>
              <a:tr h="97638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1. Zero Car Annotations: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MOT16 is predominantly pedestrian. 0 car labels survived the visibility &gt;= 0.3 filter.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• Impact: trained model detects pedestrians only car tracking not functional at M3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• Fix for M4: add supplementary data (e.g., UA-DETRAC vehicle dataset)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612353"/>
                  </a:ext>
                </a:extLst>
              </a:tr>
              <a:tr h="97638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2. Occlusion Failures: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Overlapping pedestrians cause merged boxes. SORT assigns new IDs after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max_age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frames.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• Impact: ID switches inflate the ID switch metric in MOTA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• Fix for M4: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+mn-lt"/>
                        </a:rPr>
                        <a:t>DeepSORT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 adds appearance re-ID to match same person after occlusion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932903"/>
                  </a:ext>
                </a:extLst>
              </a:tr>
              <a:tr h="97638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3. Small Distant Objects: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YOLOv8n (nano) misses small targets (~10x10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• Impact: false negatives on small targets, reducing recall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• Fix: use YOLOv8s/m (larger model), or higher input resolution (1280px)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88918"/>
                  </a:ext>
                </a:extLst>
              </a:tr>
              <a:tr h="976387">
                <a:tc>
                  <a:txBody>
                    <a:bodyPr/>
                    <a:lstStyle/>
                    <a:p>
                      <a:r>
                        <a:rPr lang="en-US" b="1" dirty="0"/>
                        <a:t>4. Temporal Split Gap:</a:t>
                      </a:r>
                      <a:r>
                        <a:rPr lang="en-US" dirty="0"/>
                        <a:t> Last 20% of frames used for validation shifts scene content, which may slightly lower reported metrics compared to a random split.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Expected: slight metric drop vs. random split accepted trade-off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06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574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AEAE9-CCF7-E53C-1BB0-C0D5D57C6B0E}"/>
              </a:ext>
            </a:extLst>
          </p:cNvPr>
          <p:cNvSpPr txBox="1"/>
          <p:nvPr/>
        </p:nvSpPr>
        <p:spPr>
          <a:xfrm>
            <a:off x="457200" y="137160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00B4D8"/>
                </a:solidFill>
                <a:latin typeface="Calibri"/>
              </a:rPr>
              <a:t>Planned Improvements &amp; Next Steps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5BE5E4-0BB8-D862-F0EE-F8A9459B951A}"/>
              </a:ext>
            </a:extLst>
          </p:cNvPr>
          <p:cNvSpPr/>
          <p:nvPr/>
        </p:nvSpPr>
        <p:spPr>
          <a:xfrm>
            <a:off x="457200" y="1170432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B4A866-6DAE-02A5-82F8-B97C21C41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1309"/>
            <a:ext cx="12192000" cy="435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92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AA41B8-5200-077B-D7C8-5DC573E49AC7}"/>
              </a:ext>
            </a:extLst>
          </p:cNvPr>
          <p:cNvSpPr txBox="1"/>
          <p:nvPr/>
        </p:nvSpPr>
        <p:spPr>
          <a:xfrm>
            <a:off x="457200" y="137160"/>
            <a:ext cx="112471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00B4D8"/>
                </a:solidFill>
                <a:latin typeface="Calibri"/>
              </a:rPr>
              <a:t>Repository Status &amp;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02A6F-5CC1-7E60-8A3F-3A65DE81971B}"/>
              </a:ext>
            </a:extLst>
          </p:cNvPr>
          <p:cNvSpPr/>
          <p:nvPr/>
        </p:nvSpPr>
        <p:spPr>
          <a:xfrm>
            <a:off x="457200" y="7533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08C31A-45E3-DB48-4C91-12DC8C3217E4}"/>
              </a:ext>
            </a:extLst>
          </p:cNvPr>
          <p:cNvGrpSpPr/>
          <p:nvPr/>
        </p:nvGrpSpPr>
        <p:grpSpPr>
          <a:xfrm>
            <a:off x="274320" y="1298448"/>
            <a:ext cx="6858000" cy="4937760"/>
            <a:chOff x="274320" y="1298448"/>
            <a:chExt cx="6858000" cy="493776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0FBFBB0-8C71-A9AF-1308-A4725217190E}"/>
                </a:ext>
              </a:extLst>
            </p:cNvPr>
            <p:cNvSpPr/>
            <p:nvPr/>
          </p:nvSpPr>
          <p:spPr>
            <a:xfrm>
              <a:off x="274320" y="1298448"/>
              <a:ext cx="6858000" cy="4937760"/>
            </a:xfrm>
            <a:prstGeom prst="rect">
              <a:avLst/>
            </a:prstGeom>
            <a:solidFill>
              <a:srgbClr val="14283E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66AEE6-371B-8AF1-2A2C-F4B4F965C148}"/>
                </a:ext>
              </a:extLst>
            </p:cNvPr>
            <p:cNvSpPr txBox="1"/>
            <p:nvPr/>
          </p:nvSpPr>
          <p:spPr>
            <a:xfrm>
              <a:off x="411480" y="1389888"/>
              <a:ext cx="658368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00B4D8"/>
                  </a:solidFill>
                  <a:latin typeface="Calibri"/>
                </a:rPr>
                <a:t>Git Commit History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2A42806-7CF9-2422-304C-B24F5DE52EBE}"/>
                </a:ext>
              </a:extLst>
            </p:cNvPr>
            <p:cNvSpPr/>
            <p:nvPr/>
          </p:nvSpPr>
          <p:spPr>
            <a:xfrm>
              <a:off x="320040" y="1783080"/>
              <a:ext cx="6748272" cy="621792"/>
            </a:xfrm>
            <a:prstGeom prst="rect">
              <a:avLst/>
            </a:prstGeom>
            <a:solidFill>
              <a:srgbClr val="1428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688B2D1-70E6-E6F5-0DE6-128D75E8A3E4}"/>
                </a:ext>
              </a:extLst>
            </p:cNvPr>
            <p:cNvSpPr/>
            <p:nvPr/>
          </p:nvSpPr>
          <p:spPr>
            <a:xfrm>
              <a:off x="320040" y="1783080"/>
              <a:ext cx="64008" cy="621792"/>
            </a:xfrm>
            <a:prstGeom prst="rect">
              <a:avLst/>
            </a:prstGeom>
            <a:solidFill>
              <a:srgbClr val="2ECC7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C1CE48-03E7-8416-E0BE-97988EFD0E61}"/>
                </a:ext>
              </a:extLst>
            </p:cNvPr>
            <p:cNvSpPr txBox="1"/>
            <p:nvPr/>
          </p:nvSpPr>
          <p:spPr>
            <a:xfrm>
              <a:off x="457200" y="1828800"/>
              <a:ext cx="100584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2ECC71"/>
                  </a:solidFill>
                  <a:latin typeface="Calibri"/>
                </a:rPr>
                <a:t>ae1e6f4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68B5F5-0E57-1CCF-15FE-ACE2C3447A19}"/>
                </a:ext>
              </a:extLst>
            </p:cNvPr>
            <p:cNvSpPr txBox="1"/>
            <p:nvPr/>
          </p:nvSpPr>
          <p:spPr>
            <a:xfrm>
              <a:off x="1508760" y="1828800"/>
              <a:ext cx="4937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Calibri"/>
                </a:rPr>
                <a:t>M3: YOLOv8+SORT tracking pipeline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4A892F-AADE-107D-E26A-50D2B3CD64AC}"/>
                </a:ext>
              </a:extLst>
            </p:cNvPr>
            <p:cNvSpPr txBox="1"/>
            <p:nvPr/>
          </p:nvSpPr>
          <p:spPr>
            <a:xfrm>
              <a:off x="6492240" y="1828800"/>
              <a:ext cx="50292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/>
              <a:r>
                <a:rPr sz="1000" b="0">
                  <a:solidFill>
                    <a:srgbClr val="CCCCCC"/>
                  </a:solidFill>
                  <a:latin typeface="Calibri"/>
                </a:rPr>
                <a:t>Aug 14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A0200A6-14BD-90F6-5B08-C89AFBDF74AE}"/>
                </a:ext>
              </a:extLst>
            </p:cNvPr>
            <p:cNvSpPr/>
            <p:nvPr/>
          </p:nvSpPr>
          <p:spPr>
            <a:xfrm>
              <a:off x="320040" y="2459736"/>
              <a:ext cx="6748272" cy="621792"/>
            </a:xfrm>
            <a:prstGeom prst="rect">
              <a:avLst/>
            </a:prstGeom>
            <a:solidFill>
              <a:srgbClr val="0F1E3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23C1733-2879-3E9F-D3D2-518F64DC5591}"/>
                </a:ext>
              </a:extLst>
            </p:cNvPr>
            <p:cNvSpPr/>
            <p:nvPr/>
          </p:nvSpPr>
          <p:spPr>
            <a:xfrm>
              <a:off x="320040" y="2459736"/>
              <a:ext cx="64008" cy="621792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4697BA-32D7-4171-5B08-305BCDECC3EE}"/>
                </a:ext>
              </a:extLst>
            </p:cNvPr>
            <p:cNvSpPr txBox="1"/>
            <p:nvPr/>
          </p:nvSpPr>
          <p:spPr>
            <a:xfrm>
              <a:off x="457200" y="2505456"/>
              <a:ext cx="100584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00B4D8"/>
                  </a:solidFill>
                  <a:latin typeface="Calibri"/>
                </a:rPr>
                <a:t>95d54b5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32B415-340A-6229-C6C8-3C1961FB5ACE}"/>
                </a:ext>
              </a:extLst>
            </p:cNvPr>
            <p:cNvSpPr txBox="1"/>
            <p:nvPr/>
          </p:nvSpPr>
          <p:spPr>
            <a:xfrm>
              <a:off x="1508760" y="2505456"/>
              <a:ext cx="4937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Calibri"/>
                </a:rPr>
                <a:t>Updated progress report (M2 slides)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EB3F68-8EBD-87F6-A4C9-200F4753C797}"/>
                </a:ext>
              </a:extLst>
            </p:cNvPr>
            <p:cNvSpPr txBox="1"/>
            <p:nvPr/>
          </p:nvSpPr>
          <p:spPr>
            <a:xfrm>
              <a:off x="6492240" y="2505456"/>
              <a:ext cx="50292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/>
              <a:r>
                <a:rPr sz="1000" b="0">
                  <a:solidFill>
                    <a:srgbClr val="CCCCCC"/>
                  </a:solidFill>
                  <a:latin typeface="Calibri"/>
                </a:rPr>
                <a:t>Jul 26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8F750F3-778B-1A53-C643-BD0D8A74F9A4}"/>
                </a:ext>
              </a:extLst>
            </p:cNvPr>
            <p:cNvSpPr/>
            <p:nvPr/>
          </p:nvSpPr>
          <p:spPr>
            <a:xfrm>
              <a:off x="320040" y="3136392"/>
              <a:ext cx="6748272" cy="621792"/>
            </a:xfrm>
            <a:prstGeom prst="rect">
              <a:avLst/>
            </a:prstGeom>
            <a:solidFill>
              <a:srgbClr val="1428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24AAE1-413E-6263-CC8B-B147540E7177}"/>
                </a:ext>
              </a:extLst>
            </p:cNvPr>
            <p:cNvSpPr/>
            <p:nvPr/>
          </p:nvSpPr>
          <p:spPr>
            <a:xfrm>
              <a:off x="320040" y="3136392"/>
              <a:ext cx="64008" cy="621792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430370-B0A5-6CF0-B665-2756F96D1DCD}"/>
                </a:ext>
              </a:extLst>
            </p:cNvPr>
            <p:cNvSpPr txBox="1"/>
            <p:nvPr/>
          </p:nvSpPr>
          <p:spPr>
            <a:xfrm>
              <a:off x="457200" y="3182112"/>
              <a:ext cx="100584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00B4D8"/>
                  </a:solidFill>
                  <a:latin typeface="Calibri"/>
                </a:rPr>
                <a:t>b29aabc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51A2627-A0E0-36F4-7B8E-148CFEE41913}"/>
                </a:ext>
              </a:extLst>
            </p:cNvPr>
            <p:cNvSpPr txBox="1"/>
            <p:nvPr/>
          </p:nvSpPr>
          <p:spPr>
            <a:xfrm>
              <a:off x="1508760" y="3182112"/>
              <a:ext cx="4937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Calibri"/>
                </a:rPr>
                <a:t>Initial preprocessing scripts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D1140D6-61E6-04D6-EBE1-A288C3BC881F}"/>
                </a:ext>
              </a:extLst>
            </p:cNvPr>
            <p:cNvSpPr txBox="1"/>
            <p:nvPr/>
          </p:nvSpPr>
          <p:spPr>
            <a:xfrm>
              <a:off x="6492240" y="3182112"/>
              <a:ext cx="50292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/>
              <a:r>
                <a:rPr sz="1000" b="0">
                  <a:solidFill>
                    <a:srgbClr val="CCCCCC"/>
                  </a:solidFill>
                  <a:latin typeface="Calibri"/>
                </a:rPr>
                <a:t>Jul 26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50C6C2B-BB8F-0D34-0311-19B02456EC0A}"/>
                </a:ext>
              </a:extLst>
            </p:cNvPr>
            <p:cNvSpPr/>
            <p:nvPr/>
          </p:nvSpPr>
          <p:spPr>
            <a:xfrm>
              <a:off x="320040" y="3813048"/>
              <a:ext cx="6748272" cy="621792"/>
            </a:xfrm>
            <a:prstGeom prst="rect">
              <a:avLst/>
            </a:prstGeom>
            <a:solidFill>
              <a:srgbClr val="0F1E3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DFD0D3A-075D-EB09-D540-1BFA6B2320F0}"/>
                </a:ext>
              </a:extLst>
            </p:cNvPr>
            <p:cNvSpPr/>
            <p:nvPr/>
          </p:nvSpPr>
          <p:spPr>
            <a:xfrm>
              <a:off x="320040" y="3813048"/>
              <a:ext cx="64008" cy="621792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115A54-8642-1E6B-CC6F-96C82021E3E2}"/>
                </a:ext>
              </a:extLst>
            </p:cNvPr>
            <p:cNvSpPr txBox="1"/>
            <p:nvPr/>
          </p:nvSpPr>
          <p:spPr>
            <a:xfrm>
              <a:off x="457200" y="3858768"/>
              <a:ext cx="100584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00B4D8"/>
                  </a:solidFill>
                  <a:latin typeface="Calibri"/>
                </a:rPr>
                <a:t>0fc9527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F7AF7C5-5578-7112-D501-D6EF78EFBE65}"/>
                </a:ext>
              </a:extLst>
            </p:cNvPr>
            <p:cNvSpPr txBox="1"/>
            <p:nvPr/>
          </p:nvSpPr>
          <p:spPr>
            <a:xfrm>
              <a:off x="1508760" y="3858768"/>
              <a:ext cx="4937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Calibri"/>
                </a:rPr>
                <a:t>M2: MOT16 → YOLO preprocessing pipeline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9744400-0BE2-474A-84D4-487933F90241}"/>
                </a:ext>
              </a:extLst>
            </p:cNvPr>
            <p:cNvSpPr txBox="1"/>
            <p:nvPr/>
          </p:nvSpPr>
          <p:spPr>
            <a:xfrm>
              <a:off x="6492240" y="3858768"/>
              <a:ext cx="50292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/>
              <a:r>
                <a:rPr sz="1000" b="0">
                  <a:solidFill>
                    <a:srgbClr val="CCCCCC"/>
                  </a:solidFill>
                  <a:latin typeface="Calibri"/>
                </a:rPr>
                <a:t>Jul 26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F1DB70C-2EB2-AA55-0951-0365CF5D7EB9}"/>
                </a:ext>
              </a:extLst>
            </p:cNvPr>
            <p:cNvSpPr/>
            <p:nvPr/>
          </p:nvSpPr>
          <p:spPr>
            <a:xfrm>
              <a:off x="320040" y="4489704"/>
              <a:ext cx="6748272" cy="621792"/>
            </a:xfrm>
            <a:prstGeom prst="rect">
              <a:avLst/>
            </a:prstGeom>
            <a:solidFill>
              <a:srgbClr val="1428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64C0142-D5BB-E426-CA53-5189A12F536C}"/>
                </a:ext>
              </a:extLst>
            </p:cNvPr>
            <p:cNvSpPr/>
            <p:nvPr/>
          </p:nvSpPr>
          <p:spPr>
            <a:xfrm>
              <a:off x="320040" y="4489704"/>
              <a:ext cx="64008" cy="62179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55C830B-E174-6982-100C-2858DD4DD2A1}"/>
                </a:ext>
              </a:extLst>
            </p:cNvPr>
            <p:cNvSpPr txBox="1"/>
            <p:nvPr/>
          </p:nvSpPr>
          <p:spPr>
            <a:xfrm>
              <a:off x="457200" y="4535424"/>
              <a:ext cx="100584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CCCCCC"/>
                  </a:solidFill>
                  <a:latin typeface="Calibri"/>
                </a:rPr>
                <a:t>0d79b5e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0C3DF4F-A915-57D5-2615-33BE4BDA17C7}"/>
                </a:ext>
              </a:extLst>
            </p:cNvPr>
            <p:cNvSpPr txBox="1"/>
            <p:nvPr/>
          </p:nvSpPr>
          <p:spPr>
            <a:xfrm>
              <a:off x="1508760" y="4535424"/>
              <a:ext cx="4937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Calibri"/>
                </a:rPr>
                <a:t>Add project roadmap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A083146-5305-EC4D-FED8-A37091A195F6}"/>
                </a:ext>
              </a:extLst>
            </p:cNvPr>
            <p:cNvSpPr txBox="1"/>
            <p:nvPr/>
          </p:nvSpPr>
          <p:spPr>
            <a:xfrm>
              <a:off x="6492240" y="4535424"/>
              <a:ext cx="50292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/>
              <a:r>
                <a:rPr sz="1000" b="0">
                  <a:solidFill>
                    <a:srgbClr val="CCCCCC"/>
                  </a:solidFill>
                  <a:latin typeface="Calibri"/>
                </a:rPr>
                <a:t>Jul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907B970-7091-72A0-6AFE-1E65487A8D2A}"/>
                </a:ext>
              </a:extLst>
            </p:cNvPr>
            <p:cNvSpPr/>
            <p:nvPr/>
          </p:nvSpPr>
          <p:spPr>
            <a:xfrm>
              <a:off x="320040" y="5166360"/>
              <a:ext cx="6748272" cy="621792"/>
            </a:xfrm>
            <a:prstGeom prst="rect">
              <a:avLst/>
            </a:prstGeom>
            <a:solidFill>
              <a:srgbClr val="0F1E3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820AF19-FDC2-B97C-8DF7-2AFD9E35BA03}"/>
                </a:ext>
              </a:extLst>
            </p:cNvPr>
            <p:cNvSpPr/>
            <p:nvPr/>
          </p:nvSpPr>
          <p:spPr>
            <a:xfrm>
              <a:off x="320040" y="5166360"/>
              <a:ext cx="64008" cy="621792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6A5CA40-4E8A-7426-A4E9-3963966A08C2}"/>
                </a:ext>
              </a:extLst>
            </p:cNvPr>
            <p:cNvSpPr txBox="1"/>
            <p:nvPr/>
          </p:nvSpPr>
          <p:spPr>
            <a:xfrm>
              <a:off x="457200" y="5212080"/>
              <a:ext cx="100584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CCCCCC"/>
                  </a:solidFill>
                  <a:latin typeface="Calibri"/>
                </a:rPr>
                <a:t>9845b39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770B1FD-B0DE-B86F-7B08-DCAD89C49E27}"/>
                </a:ext>
              </a:extLst>
            </p:cNvPr>
            <p:cNvSpPr txBox="1"/>
            <p:nvPr/>
          </p:nvSpPr>
          <p:spPr>
            <a:xfrm>
              <a:off x="1508760" y="5212080"/>
              <a:ext cx="493776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200" b="0">
                  <a:solidFill>
                    <a:srgbClr val="FFFFFF"/>
                  </a:solidFill>
                  <a:latin typeface="Calibri"/>
                </a:rPr>
                <a:t>First commit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F3802F1-C531-DB47-65FB-9C34F6586C05}"/>
                </a:ext>
              </a:extLst>
            </p:cNvPr>
            <p:cNvSpPr txBox="1"/>
            <p:nvPr/>
          </p:nvSpPr>
          <p:spPr>
            <a:xfrm>
              <a:off x="6492240" y="5212080"/>
              <a:ext cx="502920" cy="3474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/>
              <a:r>
                <a:rPr sz="1000" b="0">
                  <a:solidFill>
                    <a:srgbClr val="CCCCCC"/>
                  </a:solidFill>
                  <a:latin typeface="Calibri"/>
                </a:rPr>
                <a:t>Jul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7A8C008-4D4C-E1CD-50E5-00F420333D41}"/>
              </a:ext>
            </a:extLst>
          </p:cNvPr>
          <p:cNvGrpSpPr/>
          <p:nvPr/>
        </p:nvGrpSpPr>
        <p:grpSpPr>
          <a:xfrm>
            <a:off x="7406640" y="1298448"/>
            <a:ext cx="4480560" cy="4937759"/>
            <a:chOff x="7406640" y="1298448"/>
            <a:chExt cx="4480560" cy="493775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E56954A-A520-4C8D-66A3-5166B5FDB5F7}"/>
                </a:ext>
              </a:extLst>
            </p:cNvPr>
            <p:cNvSpPr/>
            <p:nvPr/>
          </p:nvSpPr>
          <p:spPr>
            <a:xfrm>
              <a:off x="7406640" y="1298448"/>
              <a:ext cx="4480560" cy="2331720"/>
            </a:xfrm>
            <a:prstGeom prst="rect">
              <a:avLst/>
            </a:prstGeom>
            <a:solidFill>
              <a:srgbClr val="14283E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CB51B79-4FFB-67DE-B583-E1595E0BF31E}"/>
                </a:ext>
              </a:extLst>
            </p:cNvPr>
            <p:cNvSpPr txBox="1"/>
            <p:nvPr/>
          </p:nvSpPr>
          <p:spPr>
            <a:xfrm>
              <a:off x="7543800" y="1389888"/>
              <a:ext cx="425196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2ECC71"/>
                  </a:solidFill>
                  <a:latin typeface="Calibri"/>
                </a:rPr>
                <a:t>M3 Deliverables Status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E07BFDC-AFE0-8594-4C66-6DA427991E61}"/>
                </a:ext>
              </a:extLst>
            </p:cNvPr>
            <p:cNvSpPr txBox="1"/>
            <p:nvPr/>
          </p:nvSpPr>
          <p:spPr>
            <a:xfrm>
              <a:off x="7543800" y="1828800"/>
              <a:ext cx="237744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2ECC71"/>
                  </a:solidFill>
                  <a:latin typeface="Calibri"/>
                </a:rPr>
                <a:t>[OK] sort_tracker.py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B54ACC5-9DEC-41F9-91C0-9F574CC1D166}"/>
                </a:ext>
              </a:extLst>
            </p:cNvPr>
            <p:cNvSpPr txBox="1"/>
            <p:nvPr/>
          </p:nvSpPr>
          <p:spPr>
            <a:xfrm>
              <a:off x="9966960" y="1828800"/>
              <a:ext cx="182880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CCCCCC"/>
                  </a:solidFill>
                  <a:latin typeface="Calibri"/>
                </a:rPr>
                <a:t>SORT (Kalman+Hungarian)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EE5212A-37DD-8C47-0FA4-78B28A6CFE49}"/>
                </a:ext>
              </a:extLst>
            </p:cNvPr>
            <p:cNvSpPr txBox="1"/>
            <p:nvPr/>
          </p:nvSpPr>
          <p:spPr>
            <a:xfrm>
              <a:off x="7543800" y="2130552"/>
              <a:ext cx="237744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2ECC71"/>
                  </a:solidFill>
                  <a:latin typeface="Calibri"/>
                </a:rPr>
                <a:t>[OK] run_tracker.py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E0C2B90-9101-EEE7-DBF5-5E274D0B7B9A}"/>
                </a:ext>
              </a:extLst>
            </p:cNvPr>
            <p:cNvSpPr txBox="1"/>
            <p:nvPr/>
          </p:nvSpPr>
          <p:spPr>
            <a:xfrm>
              <a:off x="9966960" y="2130552"/>
              <a:ext cx="182880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CCCCCC"/>
                  </a:solidFill>
                  <a:latin typeface="Calibri"/>
                </a:rPr>
                <a:t>Full tracking pipeline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74DF884-580D-B6FC-E1C2-097B57F29013}"/>
                </a:ext>
              </a:extLst>
            </p:cNvPr>
            <p:cNvSpPr txBox="1"/>
            <p:nvPr/>
          </p:nvSpPr>
          <p:spPr>
            <a:xfrm>
              <a:off x="7543800" y="2432304"/>
              <a:ext cx="237744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2ECC71"/>
                  </a:solidFill>
                  <a:latin typeface="Calibri"/>
                </a:rPr>
                <a:t>[OK] dataset_colab.yaml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8508FAB-B1D7-F7CF-9967-918F6714EC73}"/>
                </a:ext>
              </a:extLst>
            </p:cNvPr>
            <p:cNvSpPr txBox="1"/>
            <p:nvPr/>
          </p:nvSpPr>
          <p:spPr>
            <a:xfrm>
              <a:off x="9966960" y="2432304"/>
              <a:ext cx="182880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CCCCCC"/>
                  </a:solidFill>
                  <a:latin typeface="Calibri"/>
                </a:rPr>
                <a:t>Colab training config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8B08B64-DF31-3F0B-AB07-5D776EF8E0BD}"/>
                </a:ext>
              </a:extLst>
            </p:cNvPr>
            <p:cNvSpPr txBox="1"/>
            <p:nvPr/>
          </p:nvSpPr>
          <p:spPr>
            <a:xfrm>
              <a:off x="7543800" y="2734056"/>
              <a:ext cx="237744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>
                  <a:solidFill>
                    <a:srgbClr val="2ECC71"/>
                  </a:solidFill>
                  <a:latin typeface="Calibri"/>
                </a:rPr>
                <a:t>[OK] Colab cells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5FE925-6606-D61B-9BD9-A214E9E31A73}"/>
                </a:ext>
              </a:extLst>
            </p:cNvPr>
            <p:cNvSpPr txBox="1"/>
            <p:nvPr/>
          </p:nvSpPr>
          <p:spPr>
            <a:xfrm>
              <a:off x="9966960" y="2734056"/>
              <a:ext cx="182880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CCCCCC"/>
                  </a:solidFill>
                  <a:latin typeface="Calibri"/>
                </a:rPr>
                <a:t>8-cell training notebook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FA65970-AAD9-783F-8B9C-C492343097A6}"/>
                </a:ext>
              </a:extLst>
            </p:cNvPr>
            <p:cNvSpPr txBox="1"/>
            <p:nvPr/>
          </p:nvSpPr>
          <p:spPr>
            <a:xfrm>
              <a:off x="7543800" y="3035808"/>
              <a:ext cx="237744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FF8C00"/>
                  </a:solidFill>
                  <a:latin typeface="Calibri"/>
                </a:rPr>
                <a:t>[WIP] best.pt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44C63B2-2652-8F41-A86D-C001944B6A44}"/>
                </a:ext>
              </a:extLst>
            </p:cNvPr>
            <p:cNvSpPr txBox="1"/>
            <p:nvPr/>
          </p:nvSpPr>
          <p:spPr>
            <a:xfrm>
              <a:off x="9966960" y="3035808"/>
              <a:ext cx="182880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CCCCCC"/>
                  </a:solidFill>
                  <a:latin typeface="Calibri"/>
                </a:rPr>
                <a:t>Trained model weights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751861B-9E4A-FE97-55B3-BD3451DBB588}"/>
                </a:ext>
              </a:extLst>
            </p:cNvPr>
            <p:cNvSpPr txBox="1"/>
            <p:nvPr/>
          </p:nvSpPr>
          <p:spPr>
            <a:xfrm>
              <a:off x="7543800" y="3337560"/>
              <a:ext cx="237744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>
                  <a:solidFill>
                    <a:srgbClr val="FF8C00"/>
                  </a:solidFill>
                  <a:latin typeface="Calibri"/>
                </a:rPr>
                <a:t>[WIP] MOT16-02_tracked.mp4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1518AD-010C-1EA3-9BEF-05A9A1004EEF}"/>
                </a:ext>
              </a:extLst>
            </p:cNvPr>
            <p:cNvSpPr txBox="1"/>
            <p:nvPr/>
          </p:nvSpPr>
          <p:spPr>
            <a:xfrm>
              <a:off x="9966960" y="3337560"/>
              <a:ext cx="182880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>
                  <a:solidFill>
                    <a:srgbClr val="CCCCCC"/>
                  </a:solidFill>
                  <a:latin typeface="Calibri"/>
                </a:rPr>
                <a:t>Output tracking video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BB5708A-155D-B9A7-4ED4-35909294E4A9}"/>
                </a:ext>
              </a:extLst>
            </p:cNvPr>
            <p:cNvSpPr/>
            <p:nvPr/>
          </p:nvSpPr>
          <p:spPr>
            <a:xfrm>
              <a:off x="7406640" y="3749039"/>
              <a:ext cx="4480560" cy="2487168"/>
            </a:xfrm>
            <a:prstGeom prst="rect">
              <a:avLst/>
            </a:prstGeom>
            <a:solidFill>
              <a:srgbClr val="14283E"/>
            </a:solidFill>
            <a:ln w="1270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F52E296-FDF7-479B-3AC5-7605BBB6FEB5}"/>
                </a:ext>
              </a:extLst>
            </p:cNvPr>
            <p:cNvSpPr txBox="1"/>
            <p:nvPr/>
          </p:nvSpPr>
          <p:spPr>
            <a:xfrm>
              <a:off x="7543800" y="3840480"/>
              <a:ext cx="425196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00B4D8"/>
                  </a:solidFill>
                  <a:latin typeface="Calibri"/>
                </a:rPr>
                <a:t>Key Files in Repo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4C36BD7-2516-71D5-F588-784597633098}"/>
                </a:ext>
              </a:extLst>
            </p:cNvPr>
            <p:cNvSpPr txBox="1"/>
            <p:nvPr/>
          </p:nvSpPr>
          <p:spPr>
            <a:xfrm>
              <a:off x="7543800" y="4251960"/>
              <a:ext cx="4206240" cy="12362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200"/>
                </a:spcBef>
              </a:pPr>
              <a:r>
                <a:rPr sz="1100" dirty="0">
                  <a:solidFill>
                    <a:srgbClr val="CCCCCC"/>
                  </a:solidFill>
                  <a:latin typeface="Calibri"/>
                </a:rPr>
                <a:t>data/preprocessing/preprocess.py</a:t>
              </a:r>
            </a:p>
            <a:p>
              <a:pPr>
                <a:spcBef>
                  <a:spcPts val="200"/>
                </a:spcBef>
              </a:pPr>
              <a:r>
                <a:rPr sz="1100" dirty="0">
                  <a:solidFill>
                    <a:srgbClr val="CCCCCC"/>
                  </a:solidFill>
                  <a:latin typeface="Calibri"/>
                </a:rPr>
                <a:t>data/preprocessing/verify_labels.py</a:t>
              </a:r>
            </a:p>
            <a:p>
              <a:pPr>
                <a:spcBef>
                  <a:spcPts val="200"/>
                </a:spcBef>
              </a:pPr>
              <a:r>
                <a:rPr sz="1100" dirty="0">
                  <a:solidFill>
                    <a:srgbClr val="CCCCCC"/>
                  </a:solidFill>
                  <a:latin typeface="Calibri"/>
                </a:rPr>
                <a:t>src/tracking/sort_tracker.py</a:t>
              </a:r>
            </a:p>
            <a:p>
              <a:pPr>
                <a:spcBef>
                  <a:spcPts val="200"/>
                </a:spcBef>
              </a:pPr>
              <a:r>
                <a:rPr sz="1100" dirty="0">
                  <a:solidFill>
                    <a:srgbClr val="CCCCCC"/>
                  </a:solidFill>
                  <a:latin typeface="Calibri"/>
                </a:rPr>
                <a:t>src/tracking/run_tracker.py</a:t>
              </a:r>
            </a:p>
            <a:p>
              <a:pPr>
                <a:spcBef>
                  <a:spcPts val="200"/>
                </a:spcBef>
              </a:pPr>
              <a:r>
                <a:rPr sz="1100" dirty="0">
                  <a:solidFill>
                    <a:srgbClr val="CCCCCC"/>
                  </a:solidFill>
                  <a:latin typeface="Calibri"/>
                </a:rPr>
                <a:t>data/</a:t>
              </a:r>
              <a:r>
                <a:rPr sz="1100" dirty="0" err="1">
                  <a:solidFill>
                    <a:srgbClr val="CCCCCC"/>
                  </a:solidFill>
                  <a:latin typeface="Calibri"/>
                </a:rPr>
                <a:t>yolo_dataset</a:t>
              </a:r>
              <a:r>
                <a:rPr sz="1100" dirty="0">
                  <a:solidFill>
                    <a:srgbClr val="CCCCCC"/>
                  </a:solidFill>
                  <a:latin typeface="Calibri"/>
                </a:rPr>
                <a:t>/</a:t>
              </a:r>
              <a:r>
                <a:rPr sz="1100" dirty="0" err="1">
                  <a:solidFill>
                    <a:srgbClr val="CCCCCC"/>
                  </a:solidFill>
                  <a:latin typeface="Calibri"/>
                </a:rPr>
                <a:t>dataset_colab.yaml</a:t>
              </a:r>
              <a:endParaRPr sz="1100" dirty="0">
                <a:solidFill>
                  <a:srgbClr val="CCCCCC"/>
                </a:solidFill>
                <a:latin typeface="Calibri"/>
              </a:endParaRPr>
            </a:p>
            <a:p>
              <a:pPr>
                <a:spcBef>
                  <a:spcPts val="200"/>
                </a:spcBef>
              </a:pPr>
              <a:r>
                <a:rPr sz="1100" dirty="0">
                  <a:solidFill>
                    <a:srgbClr val="CCCCCC"/>
                  </a:solidFill>
                  <a:latin typeface="Calibri"/>
                </a:rPr>
                <a:t>ROADMAP.md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9298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775</Words>
  <Application>Microsoft Office PowerPoint</Application>
  <PresentationFormat>Widescreen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M.R.A. RAHMAN</dc:creator>
  <cp:lastModifiedBy>M.R.A. RAHMAN</cp:lastModifiedBy>
  <cp:revision>3</cp:revision>
  <dcterms:created xsi:type="dcterms:W3CDTF">2026-08-14T16:17:44Z</dcterms:created>
  <dcterms:modified xsi:type="dcterms:W3CDTF">2026-08-14T18:12:15Z</dcterms:modified>
</cp:coreProperties>
</file>