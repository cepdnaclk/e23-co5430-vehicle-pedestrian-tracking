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0D1E38"/>
          </a:solidFill>
          <a:ln w="12700">
            <a:solidFill>
              <a:srgbClr val="0D1E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88952" cy="3383280"/>
          </a:xfrm>
          <a:prstGeom prst="rect">
            <a:avLst/>
          </a:prstGeom>
          <a:solidFill>
            <a:srgbClr val="0A1428"/>
          </a:solidFill>
          <a:ln w="12700">
            <a:solidFill>
              <a:srgbClr val="0A14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Vehicle &amp; Pedestrian 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C8FF"/>
                </a:solidFill>
              </a:rPr>
              <a:t>in Video Sequences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BE8FF"/>
                </a:solidFill>
              </a:rPr>
              <a:t>Final Project Report  |  CO5430 – Image Processing &amp; Computer Vision  | 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606040"/>
            <a:ext cx="11548872" cy="16459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45920" y="2834640"/>
            <a:ext cx="8897112" cy="2651760"/>
          </a:xfrm>
          <a:prstGeom prst="rect">
            <a:avLst/>
          </a:prstGeom>
          <a:solidFill>
            <a:srgbClr val="10203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2944368"/>
            <a:ext cx="8897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8FF"/>
                </a:solidFill>
              </a:rPr>
              <a:t>Group G07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40156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M.R.A. Rahman   E/23/282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40156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A. Piraveen   E/23/273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931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M.M.M.A. Nular   E/23/249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931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V. Thanush   E/23/392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663440"/>
            <a:ext cx="8897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Department of Computer Engineering  |  University of Peradeniya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0203A"/>
          </a:solidFill>
          <a:ln w="12700">
            <a:solidFill>
              <a:srgbClr val="10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6539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8"/>
                </a:solidFill>
              </a:rPr>
              <a:t>Final Submission  |  September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656539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7BE8FF"/>
                </a:solidFill>
              </a:rPr>
              <a:t>GitHub: cepdnaclk/e23-co5430-vehicle-pedestrian-tracking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0203A"/>
          </a:solidFill>
          <a:ln w="12700">
            <a:solidFill>
              <a:srgbClr val="10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64592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 Statement &amp;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4008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E8FF"/>
                </a:solidFill>
              </a:rPr>
              <a:t>What we set out to solve and the data used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97280"/>
            <a:ext cx="5212080" cy="5394960"/>
          </a:xfrm>
          <a:prstGeom prst="rect">
            <a:avLst/>
          </a:prstGeom>
          <a:solidFill>
            <a:srgbClr val="10203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Given a continuous video stream from a fixed surveillance camera, automatically detect every pedestrian in each frame and assign them a persistent identity number — so the same person keeps the same ID even as they walk, occlude each other, or leave and re-enter the scene.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E8FF"/>
                </a:solidFill>
              </a:rPr>
              <a:t>Two Stages Required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4937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① Detection  — find pedestrians in each frame, draw a bounding box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</a:rPr>
              <a:t>① Tracking   — link boxes across frames with stable IDs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062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E8FF"/>
                </a:solidFill>
              </a:rPr>
              <a:t>Dataset: MOT16 Benchmark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B4C8"/>
                </a:solidFill>
              </a:rPr>
              <a:t>▸ 7 sequences — real surveillance footage (Italy, Switzerland, UK)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B4C8"/>
                </a:solidFill>
              </a:rPr>
              <a:t>▸ 5,316 frames total across all sequences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B4C8"/>
                </a:solidFill>
              </a:rPr>
              <a:t>▸ Human-annotated ground truth for every pedestrian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B4C8"/>
                </a:solidFill>
              </a:rPr>
              <a:t>▸ Standard benchmark used in all MOT research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B4C8"/>
                </a:solidFill>
              </a:rPr>
              <a:t>▸ 4,254 training frames  |  1,062 validation frames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B4C8"/>
                </a:solidFill>
              </a:rPr>
              <a:t>▸ 79,799 pedestrian annotations after filtering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1115568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E8FF"/>
                </a:solidFill>
              </a:rPr>
              <a:t>MOT16 Sequences — Sample Frames</a:t>
            </a:r>
          </a:p>
        </p:txBody>
      </p:sp>
      <p:pic>
        <p:nvPicPr>
          <p:cNvPr id="15" name="Picture 14" descr="MOT16-02_0001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508760"/>
            <a:ext cx="3017520" cy="22402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0" y="377647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B4C8"/>
                </a:solidFill>
              </a:rPr>
              <a:t>MOT16-02 (Venice plaza)</a:t>
            </a:r>
          </a:p>
        </p:txBody>
      </p:sp>
      <p:pic>
        <p:nvPicPr>
          <p:cNvPr id="17" name="Picture 16" descr="MOT16-09_00037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1508760"/>
            <a:ext cx="3017520" cy="22402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23960" y="377647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B4C8"/>
                </a:solidFill>
              </a:rPr>
              <a:t>MOT16-09 (ETH Zurich)</a:t>
            </a:r>
          </a:p>
        </p:txBody>
      </p:sp>
      <p:pic>
        <p:nvPicPr>
          <p:cNvPr id="19" name="Picture 18" descr="MOT16-11_00052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840480"/>
            <a:ext cx="3017520" cy="2240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15000" y="61081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B4C8"/>
                </a:solidFill>
              </a:rPr>
              <a:t>MOT16-11 (Indoor mall)</a:t>
            </a:r>
          </a:p>
        </p:txBody>
      </p:sp>
      <p:pic>
        <p:nvPicPr>
          <p:cNvPr id="21" name="Picture 20" descr="MOT16-13_00026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3960" y="3840480"/>
            <a:ext cx="3017520" cy="22402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823960" y="6108192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B4C8"/>
                </a:solidFill>
              </a:rPr>
              <a:t>MOT16-13 (UK street)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0203A"/>
          </a:solidFill>
          <a:ln w="12700">
            <a:solidFill>
              <a:srgbClr val="10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64592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Pipeline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4008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E8FF"/>
                </a:solidFill>
              </a:rPr>
              <a:t>End-to-end 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737360" cy="1554480"/>
          </a:xfrm>
          <a:prstGeom prst="rect">
            <a:avLst/>
          </a:prstGeom>
          <a:solidFill>
            <a:srgbClr val="10203A"/>
          </a:solidFill>
          <a:ln w="1905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527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C8FF"/>
                </a:solidFill>
              </a:rPr>
              <a:t>MOT16
Raw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73352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B4C8"/>
                </a:solidFill>
              </a:rPr>
              <a:t>7 sequences
5,316 JPEG frames
+ gt.txt annotations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691640"/>
            <a:ext cx="246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12848" y="1143000"/>
            <a:ext cx="1737360" cy="1554480"/>
          </a:xfrm>
          <a:prstGeom prst="rect">
            <a:avLst/>
          </a:prstGeom>
          <a:solidFill>
            <a:srgbClr val="10203A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12848" y="12527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8C00"/>
                </a:solidFill>
              </a:rPr>
              <a:t>Preprocess
preprocess.py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2848" y="1673352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B4C8"/>
                </a:solidFill>
              </a:rPr>
              <a:t>MOT→YOLO format
Normalize coords
Train/val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0208" y="1691640"/>
            <a:ext cx="246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51376" y="1143000"/>
            <a:ext cx="1737360" cy="1554480"/>
          </a:xfrm>
          <a:prstGeom prst="rect">
            <a:avLst/>
          </a:prstGeom>
          <a:solidFill>
            <a:srgbClr val="10203A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51376" y="12527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1C40F"/>
                </a:solidFill>
              </a:rPr>
              <a:t>Train
YOLOv8n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1673352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B4C8"/>
                </a:solidFill>
              </a:rPr>
              <a:t>50 epochs
Colab T4 GPU
~30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8736" y="1691640"/>
            <a:ext cx="246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9904" y="1143000"/>
            <a:ext cx="1737360" cy="1554480"/>
          </a:xfrm>
          <a:prstGeom prst="rect">
            <a:avLst/>
          </a:prstGeom>
          <a:solidFill>
            <a:srgbClr val="10203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9904" y="12527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CC71"/>
                </a:solidFill>
              </a:rPr>
              <a:t>Detect
best.pt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9904" y="1673352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B4C8"/>
                </a:solidFill>
              </a:rPr>
              <a:t>Per-frame inference
Conf threshold 0.30
~10 fps on CPU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7264" y="1691640"/>
            <a:ext cx="246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28432" y="1143000"/>
            <a:ext cx="1737360" cy="1554480"/>
          </a:xfrm>
          <a:prstGeom prst="rect">
            <a:avLst/>
          </a:prstGeom>
          <a:solidFill>
            <a:srgbClr val="10203A"/>
          </a:solidFill>
          <a:ln w="19050">
            <a:solidFill>
              <a:srgbClr val="7BE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8432" y="12527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BE8FF"/>
                </a:solidFill>
              </a:rPr>
              <a:t>Track
SORT/ByteTrack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2" y="1673352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B4C8"/>
                </a:solidFill>
              </a:rPr>
              <a:t>Kalman Filter
Hungarian Algo
Persistent IDs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5792" y="1691640"/>
            <a:ext cx="24688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8FF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66960" y="1143000"/>
            <a:ext cx="1737360" cy="1554480"/>
          </a:xfrm>
          <a:prstGeom prst="rect">
            <a:avLst/>
          </a:prstGeom>
          <a:solidFill>
            <a:srgbClr val="10203A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0" y="125272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Output
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1673352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A0B4C8"/>
                </a:solidFill>
              </a:rPr>
              <a:t>Tracked video
MOTChallenge .txt
MOTA evaluation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2880360"/>
            <a:ext cx="3657600" cy="2926080"/>
          </a:xfrm>
          <a:prstGeom prst="rect">
            <a:avLst/>
          </a:prstGeom>
          <a:solidFill>
            <a:srgbClr val="10203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29900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🔍  YOLOv8n —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410712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B4C8"/>
                </a:solidFill>
              </a:rPr>
              <a:t>▸ CSP-DarkNet backbone + PAN-FPN neck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B4C8"/>
                </a:solidFill>
              </a:rPr>
              <a:t>▸ Pretrained on COCO (80 classes)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B4C8"/>
                </a:solidFill>
              </a:rPr>
              <a:t>▸ Fine-tuned on MOT16 pedestrian class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B4C8"/>
                </a:solidFill>
              </a:rPr>
              <a:t>▸ Input: 640×640 px  |  Output: [x1,y1,x2,y2, conf, class]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B4C8"/>
                </a:solidFill>
              </a:rPr>
              <a:t>▸ 3.2 M parameters  |  runs at ~10 fps on CPU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97096" y="2880360"/>
            <a:ext cx="3657600" cy="2926080"/>
          </a:xfrm>
          <a:prstGeom prst="rect">
            <a:avLst/>
          </a:prstGeom>
          <a:solidFill>
            <a:srgbClr val="10203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34256" y="29900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🎯  SORT — Baseline Tracker (M3)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6" y="3410712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B4C8"/>
                </a:solidFill>
              </a:rPr>
              <a:t>▸ Kalman Filter: constant-velocity motion model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B4C8"/>
                </a:solidFill>
              </a:rPr>
              <a:t>▸ Predicts next position from velocity history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B4C8"/>
                </a:solidFill>
              </a:rPr>
              <a:t>▸ Hungarian Algorithm: optimal detection-to-track matching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B4C8"/>
                </a:solidFill>
              </a:rPr>
              <a:t>▸ Matches by IoU overlap (threshold: 0.45)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B4C8"/>
                </a:solidFill>
              </a:rPr>
              <a:t>▸ max_age=3 (delete lost tracks)  |  min_hits=3 (confirm new)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74152" y="2880360"/>
            <a:ext cx="3657600" cy="2926080"/>
          </a:xfrm>
          <a:prstGeom prst="rect">
            <a:avLst/>
          </a:prstGeom>
          <a:solidFill>
            <a:srgbClr val="1020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1312" y="29900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71"/>
                </a:solidFill>
              </a:rPr>
              <a:t>⚡  ByteTrack — Upgrade (M4)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3410712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A0B4C8"/>
                </a:solidFill>
              </a:rPr>
              <a:t>▸ Pass 1: match high-confidence (≥0.30) detections → tracks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B4C8"/>
                </a:solidFill>
              </a:rPr>
              <a:t>▸ Pass 2: match unmatched tracks to low-confidence (0.10–0.30)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B4C8"/>
                </a:solidFill>
              </a:rPr>
              <a:t>▸ Recovers tracks temporarily lost behind occlusions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B4C8"/>
                </a:solidFill>
              </a:rPr>
              <a:t>▸ Built into ultralytics — no extra library needed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A0B4C8"/>
                </a:solidFill>
              </a:rPr>
              <a:t>▸ Key advantage: 59% fewer ID switches vs SORT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0203A"/>
          </a:solidFill>
          <a:ln w="12700">
            <a:solidFill>
              <a:srgbClr val="10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64592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YOLOv8n Training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4008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E8FF"/>
                </a:solidFill>
              </a:rPr>
              <a:t>50 epochs fine-tuned on MOT16 | Google Colab T4 GPU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2103120" cy="1371600"/>
          </a:xfrm>
          <a:prstGeom prst="rect">
            <a:avLst/>
          </a:prstGeom>
          <a:solidFill>
            <a:srgbClr val="10203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2529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CC71"/>
                </a:solidFill>
              </a:rPr>
              <a:t>0.9058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099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mAP@50
(val split)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42616" y="1115568"/>
            <a:ext cx="2103120" cy="1371600"/>
          </a:xfrm>
          <a:prstGeom prst="rect">
            <a:avLst/>
          </a:prstGeom>
          <a:solidFill>
            <a:srgbClr val="10203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2616" y="122529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8FF"/>
                </a:solidFill>
              </a:rPr>
              <a:t>0.5915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42616" y="17099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mAP@50-95
(strict metric)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65192" y="1115568"/>
            <a:ext cx="2103120" cy="1371600"/>
          </a:xfrm>
          <a:prstGeom prst="rect">
            <a:avLst/>
          </a:prstGeom>
          <a:solidFill>
            <a:srgbClr val="10203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5192" y="122529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CC71"/>
                </a:solidFill>
              </a:rPr>
              <a:t>0.9237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5192" y="17099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Precision
(ped class)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87768" y="1115568"/>
            <a:ext cx="2103120" cy="1371600"/>
          </a:xfrm>
          <a:prstGeom prst="rect">
            <a:avLst/>
          </a:prstGeom>
          <a:solidFill>
            <a:srgbClr val="10203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7768" y="122529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CC71"/>
                </a:solidFill>
              </a:rPr>
              <a:t>0.8308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7768" y="17099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Recall
(ped class)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10344" y="1115568"/>
            <a:ext cx="2103120" cy="1371600"/>
          </a:xfrm>
          <a:prstGeom prst="rect">
            <a:avLst/>
          </a:prstGeom>
          <a:solidFill>
            <a:srgbClr val="10203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0344" y="122529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C00"/>
                </a:solidFill>
              </a:rPr>
              <a:t>50/50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0344" y="17099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Epochs
Completed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2578608"/>
            <a:ext cx="115488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2ECC71"/>
                </a:solidFill>
              </a:rPr>
              <a:t>Training completed on Google Colab T4 GPU  |  Epoch 1 mAP50: 0.832  →  Epoch 50 mAP50: 0.892  |  Model: YOLOv8n (nano, 3.2M parameters)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926080"/>
            <a:ext cx="5303520" cy="3520440"/>
          </a:xfrm>
          <a:prstGeom prst="rect">
            <a:avLst/>
          </a:prstGeom>
          <a:solidFill>
            <a:srgbClr val="10203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017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Training Loss Convergence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3456432"/>
            <a:ext cx="5248656" cy="347472"/>
          </a:xfrm>
          <a:prstGeom prst="rect">
            <a:avLst/>
          </a:prstGeom>
          <a:solidFill>
            <a:srgbClr val="0E1C34"/>
          </a:solidFill>
          <a:ln w="12700">
            <a:solidFill>
              <a:srgbClr val="0E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5112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E8FF"/>
                </a:solidFill>
              </a:rPr>
              <a:t>Metric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351129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E8FF"/>
                </a:solidFill>
              </a:rPr>
              <a:t>Epoch 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51129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E8FF"/>
                </a:solidFill>
              </a:rPr>
              <a:t>Epoch 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351129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E8FF"/>
                </a:solidFill>
              </a:rPr>
              <a:t>Improvement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3803904"/>
            <a:ext cx="5248656" cy="347472"/>
          </a:xfrm>
          <a:prstGeom prst="rect">
            <a:avLst/>
          </a:prstGeom>
          <a:solidFill>
            <a:srgbClr val="10203A"/>
          </a:solidFill>
          <a:ln w="12700">
            <a:solidFill>
              <a:srgbClr val="10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38587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box_loss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8587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1.388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385876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0.650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38587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−53%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7472" y="4151376"/>
            <a:ext cx="5248656" cy="347472"/>
          </a:xfrm>
          <a:prstGeom prst="rect">
            <a:avLst/>
          </a:prstGeom>
          <a:solidFill>
            <a:srgbClr val="0E1C34"/>
          </a:solidFill>
          <a:ln w="12700">
            <a:solidFill>
              <a:srgbClr val="0E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cls_loss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28800" y="4206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1.189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42062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0.367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4206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−69%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" y="4498848"/>
            <a:ext cx="5248656" cy="347472"/>
          </a:xfrm>
          <a:prstGeom prst="rect">
            <a:avLst/>
          </a:prstGeom>
          <a:solidFill>
            <a:srgbClr val="10203A"/>
          </a:solidFill>
          <a:ln w="12700">
            <a:solidFill>
              <a:srgbClr val="10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80" y="45537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dfl_loss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828800" y="455371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1.060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455371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0.836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86200" y="455371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−21%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" y="4846320"/>
            <a:ext cx="5248656" cy="347472"/>
          </a:xfrm>
          <a:prstGeom prst="rect">
            <a:avLst/>
          </a:prstGeom>
          <a:solidFill>
            <a:srgbClr val="0E1C34"/>
          </a:solidFill>
          <a:ln w="12700">
            <a:solidFill>
              <a:srgbClr val="0E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11480" y="49011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28800" y="49011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0.875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4901184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0.938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86200" y="49011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+7.2%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" y="5193792"/>
            <a:ext cx="5248656" cy="347472"/>
          </a:xfrm>
          <a:prstGeom prst="rect">
            <a:avLst/>
          </a:prstGeom>
          <a:solidFill>
            <a:srgbClr val="10203A"/>
          </a:solidFill>
          <a:ln w="12700">
            <a:solidFill>
              <a:srgbClr val="10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524865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28800" y="52486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0.728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34640" y="5248656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0.809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86200" y="52486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+11.1%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" y="5541264"/>
            <a:ext cx="5248656" cy="347472"/>
          </a:xfrm>
          <a:prstGeom prst="rect">
            <a:avLst/>
          </a:prstGeom>
          <a:solidFill>
            <a:srgbClr val="0E1C34"/>
          </a:solidFill>
          <a:ln w="12700">
            <a:solidFill>
              <a:srgbClr val="0E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11480" y="55961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mAP@50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28800" y="55961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0.832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34640" y="5596128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0.892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86200" y="55961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+7.2%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47472" y="5888736"/>
            <a:ext cx="5248656" cy="347472"/>
          </a:xfrm>
          <a:prstGeom prst="rect">
            <a:avLst/>
          </a:prstGeom>
          <a:solidFill>
            <a:srgbClr val="10203A"/>
          </a:solidFill>
          <a:ln w="12700">
            <a:solidFill>
              <a:srgbClr val="10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" y="5943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mAP@50-95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828800" y="5943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0.502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34640" y="594360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0.579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86200" y="59436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+15.3%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806440" y="2926080"/>
            <a:ext cx="6062472" cy="3520440"/>
          </a:xfrm>
          <a:prstGeom prst="rect">
            <a:avLst/>
          </a:prstGeom>
          <a:solidFill>
            <a:srgbClr val="1020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43600" y="3017520"/>
            <a:ext cx="5760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What the Metrics Mean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0" y="3493008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E8FF"/>
                </a:solidFill>
              </a:rPr>
              <a:t>mAP@50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52360" y="349300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8"/>
                </a:solidFill>
              </a:rPr>
              <a:t>Box overlaps ground truth by ≥50% (standard MOT benchmark). Our 0.906 far exceeds our target of 0.65.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43600" y="4078224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E8FF"/>
                </a:solidFill>
              </a:rPr>
              <a:t>mAP@50-95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52360" y="4078224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8"/>
                </a:solidFill>
              </a:rPr>
              <a:t>Same but averaged over stricter thresholds 50%→95%. Harder to score high — 0.59 is excellent for a nano model.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0" y="4663440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E8FF"/>
                </a:solidFill>
              </a:rPr>
              <a:t>Precision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452360" y="4663440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8"/>
                </a:solidFill>
              </a:rPr>
              <a:t>Of all boxes our model predicted, 92.4% contain a real pedestrian. Very few false alarms.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43600" y="5248656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E8FF"/>
                </a:solidFill>
              </a:rPr>
              <a:t>Recall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452360" y="5248656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8"/>
                </a:solidFill>
              </a:rPr>
              <a:t>Our model finds 83.1% of all real pedestrians. Missing 16.9% — mostly tiny distant figures.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43600" y="583387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E8FF"/>
                </a:solidFill>
              </a:rPr>
              <a:t>Loss drop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452360" y="583387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8"/>
                </a:solidFill>
              </a:rPr>
              <a:t>box_loss −53%, cls_loss −69% over 50 epochs confirms strong convergence with no overfitting.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0203A"/>
          </a:solidFill>
          <a:ln w="12700">
            <a:solidFill>
              <a:srgbClr val="10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64592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SORT Tracking — Qualitative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4008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E8FF"/>
                </a:solidFill>
              </a:rPr>
              <a:t>YOLOv8 + SORT on MOT16-02 (Venice plaza) — 600 frames @ 10 fps on CPU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rame_0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15568"/>
            <a:ext cx="5760720" cy="2651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803904"/>
            <a:ext cx="5760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B4C8"/>
                </a:solidFill>
              </a:rPr>
              <a:t>Frame 51 — 10 active tracks, 18 detections</a:t>
            </a:r>
          </a:p>
        </p:txBody>
      </p:sp>
      <p:pic>
        <p:nvPicPr>
          <p:cNvPr id="9" name="Picture 8" descr="frame_028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115568"/>
            <a:ext cx="5760720" cy="26517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144768" y="3803904"/>
            <a:ext cx="5760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B4C8"/>
                </a:solidFill>
              </a:rPr>
              <a:t>Frame 281 — 17 tracks, ID 102+ (IDs accumulate over video)</a:t>
            </a:r>
          </a:p>
        </p:txBody>
      </p:sp>
      <p:pic>
        <p:nvPicPr>
          <p:cNvPr id="11" name="Picture 10" descr="frame_01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904487"/>
            <a:ext cx="5760720" cy="2651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74320" y="6592823"/>
            <a:ext cx="5760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B4C8"/>
                </a:solidFill>
              </a:rPr>
              <a:t>Frame 151 — mid-sequence, stable track IDs maintained</a:t>
            </a:r>
          </a:p>
        </p:txBody>
      </p:sp>
      <p:pic>
        <p:nvPicPr>
          <p:cNvPr id="13" name="Picture 12" descr="frame_052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3904487"/>
            <a:ext cx="5760720" cy="2651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44768" y="6592823"/>
            <a:ext cx="57607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A0B4C8"/>
                </a:solidFill>
              </a:rPr>
              <a:t>Frame 521 — late sequence, 17 tracks, ID 200+ still persistent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446520"/>
            <a:ext cx="115488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CC71"/>
                </a:solidFill>
              </a:rPr>
              <a:t>✔  Each colour = one unique track ID
✔  Labels show: ID number + class + confidence
✔  Top-left overlay: sequence name, frame number, active track count, detection count
✔  Tracker runs at 10 fps on CPU (Intel i7, no GPU)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0203A"/>
          </a:solidFill>
          <a:ln w="12700">
            <a:solidFill>
              <a:srgbClr val="10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64592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ByteTrack — M4 Upgrade &amp;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4008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E8FF"/>
                </a:solidFill>
              </a:rPr>
              <a:t>Two-pass association for better occlusion handling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5577840" cy="2560320"/>
          </a:xfrm>
          <a:prstGeom prst="rect">
            <a:avLst/>
          </a:prstGeom>
          <a:solidFill>
            <a:srgbClr val="10203A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</a:rPr>
              <a:t>❌  Problem with SORT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27632"/>
            <a:ext cx="53035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</a:rPr>
              <a:t>When a pedestrian briefly walks behind an obstacle, the detector produces a low-confidence box (conf &lt; 0.30). SORT ignores low-confidence boxes, so the track is deleted. When the person reappears, SORT assigns a BRAND NEW ID — an identity switch. The same person appears as two different people.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115568"/>
            <a:ext cx="5833872" cy="2560320"/>
          </a:xfrm>
          <a:prstGeom prst="rect">
            <a:avLst/>
          </a:prstGeom>
          <a:solidFill>
            <a:srgbClr val="1020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2070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✅  ByteTrack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627632"/>
            <a:ext cx="5486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▸ Pass 1: match high-confidence (≥0.30) detections → confirmed tracks  (same as SORT)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▸ Pass 2: take UNMATCHED tracks + low-confidence detections (0.10–0.30) and match again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▸ Result: person behind pillar → low-conf box found in Pass 2 → SAME ID kept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▸ Built into ultralytics — only ONE line of code change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▸ No extra libraries needed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3822191"/>
            <a:ext cx="11548872" cy="2651760"/>
          </a:xfrm>
          <a:prstGeom prst="rect">
            <a:avLst/>
          </a:prstGeom>
          <a:solidFill>
            <a:srgbClr val="10203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9136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8FF"/>
                </a:solidFill>
              </a:rPr>
              <a:t>SORT vs ByteTrack — Quantitative Comparison on MOT16-02 (600 frames, 8,840 GT objects)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352544"/>
            <a:ext cx="1783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E8FF"/>
                </a:solidFill>
              </a:rPr>
              <a:t>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352544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E8FF"/>
                </a:solidFill>
              </a:rPr>
              <a:t>SORT (M3 Baseline)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352544"/>
            <a:ext cx="2240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E8FF"/>
                </a:solidFill>
              </a:rPr>
              <a:t>ByteTrack (M4 Upgrade)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352544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E8FF"/>
                </a:solidFill>
              </a:rPr>
              <a:t>Winner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35254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E8FF"/>
                </a:solidFill>
              </a:rPr>
              <a:t>Interpretation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4681728"/>
            <a:ext cx="11494008" cy="329184"/>
          </a:xfrm>
          <a:prstGeom prst="rect">
            <a:avLst/>
          </a:prstGeom>
          <a:solidFill>
            <a:srgbClr val="0E1C34"/>
          </a:solidFill>
          <a:ln w="12700">
            <a:solidFill>
              <a:srgbClr val="0E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472744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MOTA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472744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0.684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72744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0.655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72744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C00"/>
                </a:solidFill>
              </a:rPr>
              <a:t>SORT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72744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SORT more precise (fewer FP)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5010912"/>
            <a:ext cx="11494008" cy="329184"/>
          </a:xfrm>
          <a:prstGeom prst="rect">
            <a:avLst/>
          </a:prstGeom>
          <a:solidFill>
            <a:srgbClr val="10203A"/>
          </a:solidFill>
          <a:ln w="12700">
            <a:solidFill>
              <a:srgbClr val="10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505663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MOTP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5056632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0.151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5663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0.161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5056632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C00"/>
                </a:solidFill>
              </a:rPr>
              <a:t>SORT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056632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SORT boxes slightly tighter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" y="5340096"/>
            <a:ext cx="11494008" cy="329184"/>
          </a:xfrm>
          <a:prstGeom prst="rect">
            <a:avLst/>
          </a:prstGeom>
          <a:solidFill>
            <a:srgbClr val="0E1C34"/>
          </a:solidFill>
          <a:ln w="12700">
            <a:solidFill>
              <a:srgbClr val="0E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38581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ID Switches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5385816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98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5385816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38581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ByteTrack 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385816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59% fewer — key ByteTrack win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7472" y="5669280"/>
            <a:ext cx="11494008" cy="329184"/>
          </a:xfrm>
          <a:prstGeom prst="rect">
            <a:avLst/>
          </a:prstGeom>
          <a:solidFill>
            <a:srgbClr val="10203A"/>
          </a:solidFill>
          <a:ln w="12700">
            <a:solidFill>
              <a:srgbClr val="10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71500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True Positive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5715000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7,486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0560" y="571500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7,656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71500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ByteTrack 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57150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ByteTrack finds more pedestrians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" y="5998464"/>
            <a:ext cx="11494008" cy="329184"/>
          </a:xfrm>
          <a:prstGeom prst="rect">
            <a:avLst/>
          </a:prstGeom>
          <a:solidFill>
            <a:srgbClr val="0E1C34"/>
          </a:solidFill>
          <a:ln w="12700">
            <a:solidFill>
              <a:srgbClr val="0E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6044184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False Positive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40280" y="6044184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1,338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80560" y="6044184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1,827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6044184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8C00"/>
                </a:solidFill>
              </a:rPr>
              <a:t>SORT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604418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ByteTrack accepts borderline boxes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" y="6327648"/>
            <a:ext cx="11494008" cy="329184"/>
          </a:xfrm>
          <a:prstGeom prst="rect">
            <a:avLst/>
          </a:prstGeom>
          <a:solidFill>
            <a:srgbClr val="10203A"/>
          </a:solidFill>
          <a:ln w="12700">
            <a:solidFill>
              <a:srgbClr val="10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637336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False Negative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40280" y="637336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1,354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0" y="6373368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1,184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637336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ECC71"/>
                </a:solidFill>
              </a:rPr>
              <a:t>ByteTrack 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637336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ByteTrack misses fewer pedestrians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0203A"/>
          </a:solidFill>
          <a:ln w="12700">
            <a:solidFill>
              <a:srgbClr val="10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64592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Quantitative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4008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E8FF"/>
                </a:solidFill>
              </a:rPr>
              <a:t>MOTA / MOTP / ID Switch analysis on MOT16-02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2103120" cy="1234440"/>
          </a:xfrm>
          <a:prstGeom prst="rect">
            <a:avLst/>
          </a:prstGeom>
          <a:solidFill>
            <a:srgbClr val="10203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2529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CC71"/>
                </a:solidFill>
              </a:rPr>
              <a:t>0.684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099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SORT
MOTA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115568"/>
            <a:ext cx="2103120" cy="1234440"/>
          </a:xfrm>
          <a:prstGeom prst="rect">
            <a:avLst/>
          </a:prstGeom>
          <a:solidFill>
            <a:srgbClr val="10203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22529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8FF"/>
                </a:solidFill>
              </a:rPr>
              <a:t>0.655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7099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ByteTrack
MOTA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83480" y="1115568"/>
            <a:ext cx="2103120" cy="1234440"/>
          </a:xfrm>
          <a:prstGeom prst="rect">
            <a:avLst/>
          </a:prstGeom>
          <a:solidFill>
            <a:srgbClr val="10203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122529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8C00"/>
                </a:solidFill>
              </a:rPr>
              <a:t>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17099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SORT
ID Switches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115568"/>
            <a:ext cx="2103120" cy="1234440"/>
          </a:xfrm>
          <a:prstGeom prst="rect">
            <a:avLst/>
          </a:prstGeom>
          <a:solidFill>
            <a:srgbClr val="10203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122529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CC71"/>
                </a:solidFill>
              </a:rPr>
              <a:t>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7099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ByteTrack
ID Switches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46920" y="1115568"/>
            <a:ext cx="2103120" cy="1234440"/>
          </a:xfrm>
          <a:prstGeom prst="rect">
            <a:avLst/>
          </a:prstGeom>
          <a:solidFill>
            <a:srgbClr val="10203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1225296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0B4C8"/>
                </a:solidFill>
              </a:rPr>
              <a:t>8,840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1709928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B4C8"/>
                </a:solidFill>
              </a:rPr>
              <a:t>Ground Truth
Objects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487168"/>
            <a:ext cx="5577840" cy="3977639"/>
          </a:xfrm>
          <a:prstGeom prst="rect">
            <a:avLst/>
          </a:prstGeom>
          <a:solidFill>
            <a:srgbClr val="10203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5786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</a:rPr>
              <a:t>Metric Definitions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99923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E8FF"/>
                </a:solidFill>
              </a:rPr>
              <a:t>MOTA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2999232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8"/>
                </a:solidFill>
              </a:rPr>
              <a:t>Multiple Object Tracking Accuracy = 1 − (FP+FN+IDS)/GT_total. Higher is better. Penalises all three error types equally.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50215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E8FF"/>
                </a:solidFill>
              </a:rPr>
              <a:t>MOTP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502152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8"/>
                </a:solidFill>
              </a:rPr>
              <a:t>Multiple Object Tracking Precision = mean(1−IoU) across all matched pairs. Lower is better. Measures how precisely boxes overlap ground truth.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00507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E8FF"/>
                </a:solidFill>
              </a:rPr>
              <a:t>ID Sw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005072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8"/>
                </a:solidFill>
              </a:rPr>
              <a:t>Identity Switch — when the tracker assigns a different ID to the same physical person between consecutive frames. Indicates track fragmentation.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50799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E8FF"/>
                </a:solidFill>
              </a:rPr>
              <a:t>TP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507992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8"/>
                </a:solidFill>
              </a:rPr>
              <a:t>True Positive — predicted box with IoU ≥ 0.50 to a GT box.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01091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E8FF"/>
                </a:solidFill>
              </a:rPr>
              <a:t>FP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5010912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8"/>
                </a:solidFill>
              </a:rPr>
              <a:t>False Positive — predicted box where no real pedestrian exists.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51383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E8FF"/>
                </a:solidFill>
              </a:rPr>
              <a:t>FN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513832"/>
            <a:ext cx="4114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B4C8"/>
                </a:solidFill>
              </a:rPr>
              <a:t>False Negative — real pedestrian in GT with no matching predicted box.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487168"/>
            <a:ext cx="5833872" cy="3977639"/>
          </a:xfrm>
          <a:prstGeom prst="rect">
            <a:avLst/>
          </a:prstGeom>
          <a:solidFill>
            <a:srgbClr val="1020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72200" y="25786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71"/>
                </a:solidFill>
              </a:rPr>
              <a:t>MOTA Formula &amp;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30175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MOTA  =  1 −  (FP + FN + IDS)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3375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                            GT_total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730752"/>
            <a:ext cx="11548872" cy="16459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3822191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BE8FF"/>
                </a:solidFill>
              </a:rPr>
              <a:t>SORT Calculation: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4133087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= 1 − (1338 + 1354 + 98) / 8840
= 1 − 2790 / 8840
= 1 − 0.3156
= 0.684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5193792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</a:rPr>
              <a:t>ByteTrack Calculation: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5504688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= 1 − (1827 + 1184 + 40) / 8840
= 1 − 3051 / 8840
= 0.655  (more FP trades for fewer IDS, FN)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0203A"/>
          </a:solidFill>
          <a:ln w="12700">
            <a:solidFill>
              <a:srgbClr val="10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9601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64592"/>
            <a:ext cx="1188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Conclusions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640080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BE8FF"/>
                </a:solidFill>
              </a:rPr>
              <a:t>What was achieved and where to go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6852"/>
            <a:ext cx="12188952" cy="4114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15568"/>
            <a:ext cx="5577840" cy="5349240"/>
          </a:xfrm>
          <a:prstGeom prst="rect">
            <a:avLst/>
          </a:prstGeom>
          <a:solidFill>
            <a:srgbClr val="10203A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070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71"/>
                </a:solidFill>
              </a:rPr>
              <a:t>✅  What We Achieved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✓ MOT16 benchmark dataset downloaded, preprocessed into YOLO format (79,799 annotations)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✓ YOLOv8n fine-tuned on MOT16:  mAP@50 = 0.906, Precision = 0.924, Recall = 0.831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✓ SORT tracker implemented from scratch (Kalman Filter + Hungarian Algorithm)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✓ ByteTrack integrated via ultralytics — 59% fewer ID switches vs SORT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✓ MOTA evaluation computed:  SORT=0.684, ByteTrack=0.655 on MOT16-02 (600 frames)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✓ Tracked output video produced at 10 fps on CPU (no GPU needed for inference)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✓ All code documented, explained, and pushed to GitHub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✓ Complete project explanation written in Docs/PROJECT_EXPLAINED.md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115568"/>
            <a:ext cx="5833872" cy="2651760"/>
          </a:xfrm>
          <a:prstGeom prst="rect">
            <a:avLst/>
          </a:prstGeom>
          <a:solidFill>
            <a:srgbClr val="10203A"/>
          </a:solidFill>
          <a:ln w="127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20700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C00"/>
                </a:solidFill>
              </a:rPr>
              <a:t>🔧  Challenges Encountered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69164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⚠ Zero car labels survived filtering (MOT16 is pedestrian-focused)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⚠ Small/distant pedestrians (&lt; 15 px) hard to detect at 640 px input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⚠ No local GPU — training required Google Colab T4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⚠ Slow image access from Google Drive → required local SSD copy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⚠ SORT loses tracks during occlusions (addressed by ByteTrack in M4)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3886200"/>
            <a:ext cx="5833872" cy="2578608"/>
          </a:xfrm>
          <a:prstGeom prst="rect">
            <a:avLst/>
          </a:prstGeom>
          <a:solidFill>
            <a:srgbClr val="10203A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977639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</a:rPr>
              <a:t>🚀  Future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4462272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→ Evaluate on all 7 MOT16 sequences (not just MOT16-02)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→ Upgrade to YOLOv8m/l for higher recall on small pedestrians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→ Integrate Re-ID features (DeepSORT) for appearance-based matching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→ Add vehicle class with dedicated training data (BDD100K, KITTI)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→ Deploy on edge hardware (Jetson Nano) for real-time performance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FFFFFF"/>
                </a:solidFill>
              </a:rPr>
              <a:t>→ Train on MOT17 + DanceTrack for scene diversity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0203A"/>
          </a:solidFill>
          <a:ln w="12700">
            <a:solidFill>
              <a:srgbClr val="1020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473952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BE8FF"/>
                </a:solidFill>
              </a:rPr>
              <a:t>GitHub: cepdnaclk/e23-co5430-vehicle-pedestrian-tracking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6473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A0B4C8"/>
                </a:solidFill>
              </a:rPr>
              <a:t>Group G07  |  CO5430  |  University of Peradeniya  | 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